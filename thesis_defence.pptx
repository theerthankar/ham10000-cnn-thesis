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pdf" ContentType="image/pdf"/>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df"/><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df"/><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df"/><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df"/><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df"/><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Users/rajakarthikchirumamilla/Desktop/ham10000-cnn-comparison/presentation/logo.png">    </p:cNvPr>
          <p:cNvPicPr>
            <a:picLocks noChangeAspect="1"/>
          </p:cNvPicPr>
          <p:nvPr/>
        </p:nvPicPr>
        <p:blipFill>
          <a:blip r:embed="rId1"/>
          <a:stretch>
            <a:fillRect/>
          </a:stretch>
        </p:blipFill>
        <p:spPr>
          <a:xfrm>
            <a:off x="5394960" y="274320"/>
            <a:ext cx="914400" cy="731520"/>
          </a:xfrm>
          <a:prstGeom prst="rect">
            <a:avLst/>
          </a:prstGeom>
        </p:spPr>
      </p:pic>
      <p:sp>
        <p:nvSpPr>
          <p:cNvPr id="3" name="Text 0"/>
          <p:cNvSpPr/>
          <p:nvPr/>
        </p:nvSpPr>
        <p:spPr>
          <a:xfrm>
            <a:off x="685800" y="1188720"/>
            <a:ext cx="10835640" cy="365760"/>
          </a:xfrm>
          <a:prstGeom prst="rect">
            <a:avLst/>
          </a:prstGeom>
          <a:noFill/>
          <a:ln/>
        </p:spPr>
        <p:txBody>
          <a:bodyPr wrap="square" rtlCol="0" anchor="ctr"/>
          <a:lstStyle/>
          <a:p>
            <a:pPr algn="ctr" indent="0" marL="0">
              <a:buNone/>
            </a:pPr>
            <a:r>
              <a:rPr lang="en-US" sz="2200" b="1" dirty="0">
                <a:solidFill>
                  <a:srgbClr val="D54407"/>
                </a:solidFill>
                <a:latin typeface="Arial" pitchFamily="34" charset="0"/>
                <a:ea typeface="Arial" pitchFamily="34" charset="-122"/>
                <a:cs typeface="Arial" pitchFamily="34" charset="-120"/>
              </a:rPr>
              <a:t>Master Thesis Defence</a:t>
            </a:r>
            <a:endParaRPr lang="en-US" sz="2200" dirty="0"/>
          </a:p>
        </p:txBody>
      </p:sp>
      <p:sp>
        <p:nvSpPr>
          <p:cNvPr id="4" name="Text 1"/>
          <p:cNvSpPr/>
          <p:nvPr/>
        </p:nvSpPr>
        <p:spPr>
          <a:xfrm>
            <a:off x="685800" y="1691640"/>
            <a:ext cx="10835640" cy="365760"/>
          </a:xfrm>
          <a:prstGeom prst="rect">
            <a:avLst/>
          </a:prstGeom>
          <a:noFill/>
          <a:ln/>
        </p:spPr>
        <p:txBody>
          <a:bodyPr wrap="square" rtlCol="0" anchor="ctr"/>
          <a:lstStyle/>
          <a:p>
            <a:pPr algn="ctr" indent="0" marL="0">
              <a:buNone/>
            </a:pPr>
            <a:r>
              <a:rPr lang="en-US" sz="2100" b="1" dirty="0">
                <a:solidFill>
                  <a:srgbClr val="0D1B2A"/>
                </a:solidFill>
                <a:latin typeface="Arial" pitchFamily="34" charset="0"/>
                <a:ea typeface="Arial" pitchFamily="34" charset="-122"/>
                <a:cs typeface="Arial" pitchFamily="34" charset="-120"/>
              </a:rPr>
              <a:t>Lightweight vs. Heavyweight CNN Architectures</a:t>
            </a:r>
            <a:endParaRPr lang="en-US" sz="2100" dirty="0"/>
          </a:p>
        </p:txBody>
      </p:sp>
      <p:sp>
        <p:nvSpPr>
          <p:cNvPr id="5" name="Text 2"/>
          <p:cNvSpPr/>
          <p:nvPr/>
        </p:nvSpPr>
        <p:spPr>
          <a:xfrm>
            <a:off x="685800" y="2103120"/>
            <a:ext cx="10835640" cy="365760"/>
          </a:xfrm>
          <a:prstGeom prst="rect">
            <a:avLst/>
          </a:prstGeom>
          <a:noFill/>
          <a:ln/>
        </p:spPr>
        <p:txBody>
          <a:bodyPr wrap="square" rtlCol="0" anchor="ctr"/>
          <a:lstStyle/>
          <a:p>
            <a:pPr algn="ctr" indent="0" marL="0">
              <a:buNone/>
            </a:pPr>
            <a:r>
              <a:rPr lang="en-US" sz="2100" b="1" dirty="0">
                <a:solidFill>
                  <a:srgbClr val="0D1B2A"/>
                </a:solidFill>
                <a:latin typeface="Arial" pitchFamily="34" charset="0"/>
                <a:ea typeface="Arial" pitchFamily="34" charset="-122"/>
                <a:cs typeface="Arial" pitchFamily="34" charset="-120"/>
              </a:rPr>
              <a:t>for Skin Lesion Classification</a:t>
            </a:r>
            <a:endParaRPr lang="en-US" sz="2100" dirty="0"/>
          </a:p>
        </p:txBody>
      </p:sp>
      <p:sp>
        <p:nvSpPr>
          <p:cNvPr id="6" name="Text 3"/>
          <p:cNvSpPr/>
          <p:nvPr/>
        </p:nvSpPr>
        <p:spPr>
          <a:xfrm>
            <a:off x="685800" y="2606040"/>
            <a:ext cx="10835640" cy="365760"/>
          </a:xfrm>
          <a:prstGeom prst="rect">
            <a:avLst/>
          </a:prstGeom>
          <a:noFill/>
          <a:ln/>
        </p:spPr>
        <p:txBody>
          <a:bodyPr wrap="square" rtlCol="0" anchor="ctr"/>
          <a:lstStyle/>
          <a:p>
            <a:pPr algn="ctr" indent="0" marL="0">
              <a:buNone/>
            </a:pPr>
            <a:r>
              <a:rPr lang="en-US" sz="1300" dirty="0">
                <a:solidFill>
                  <a:srgbClr val="263238"/>
                </a:solidFill>
                <a:latin typeface="Arial" pitchFamily="34" charset="0"/>
                <a:ea typeface="Arial" pitchFamily="34" charset="-122"/>
                <a:cs typeface="Arial" pitchFamily="34" charset="-120"/>
              </a:rPr>
              <a:t>A Controlled Factorial Comparison of MobileNetV2, ResNet-50</a:t>
            </a:r>
            <a:endParaRPr lang="en-US" sz="1300" dirty="0"/>
          </a:p>
        </p:txBody>
      </p:sp>
      <p:sp>
        <p:nvSpPr>
          <p:cNvPr id="7" name="Text 4"/>
          <p:cNvSpPr/>
          <p:nvPr/>
        </p:nvSpPr>
        <p:spPr>
          <a:xfrm>
            <a:off x="685800" y="2880360"/>
            <a:ext cx="10835640" cy="365760"/>
          </a:xfrm>
          <a:prstGeom prst="rect">
            <a:avLst/>
          </a:prstGeom>
          <a:noFill/>
          <a:ln/>
        </p:spPr>
        <p:txBody>
          <a:bodyPr wrap="square" rtlCol="0" anchor="ctr"/>
          <a:lstStyle/>
          <a:p>
            <a:pPr algn="ctr" indent="0" marL="0">
              <a:buNone/>
            </a:pPr>
            <a:r>
              <a:rPr lang="en-US" sz="1300" dirty="0">
                <a:solidFill>
                  <a:srgbClr val="263238"/>
                </a:solidFill>
                <a:latin typeface="Arial" pitchFamily="34" charset="0"/>
                <a:ea typeface="Arial" pitchFamily="34" charset="-122"/>
                <a:cs typeface="Arial" pitchFamily="34" charset="-120"/>
              </a:rPr>
              <a:t>and EfficientNet-B3 on HAM10000</a:t>
            </a:r>
            <a:endParaRPr lang="en-US" sz="1300" dirty="0"/>
          </a:p>
        </p:txBody>
      </p:sp>
      <p:sp>
        <p:nvSpPr>
          <p:cNvPr id="8" name="Text 5"/>
          <p:cNvSpPr/>
          <p:nvPr/>
        </p:nvSpPr>
        <p:spPr>
          <a:xfrm>
            <a:off x="685800" y="3429000"/>
            <a:ext cx="10835640" cy="365760"/>
          </a:xfrm>
          <a:prstGeom prst="rect">
            <a:avLst/>
          </a:prstGeom>
          <a:noFill/>
          <a:ln/>
        </p:spPr>
        <p:txBody>
          <a:bodyPr wrap="square" rtlCol="0" anchor="ctr"/>
          <a:lstStyle/>
          <a:p>
            <a:pPr algn="ctr" indent="0" marL="0">
              <a:buNone/>
            </a:pPr>
            <a:r>
              <a:rPr lang="en-US" sz="1600" b="1" dirty="0">
                <a:solidFill>
                  <a:srgbClr val="263238"/>
                </a:solidFill>
                <a:latin typeface="Arial" pitchFamily="34" charset="0"/>
                <a:ea typeface="Arial" pitchFamily="34" charset="-122"/>
                <a:cs typeface="Arial" pitchFamily="34" charset="-120"/>
              </a:rPr>
              <a:t>Theerthankar Reddy Bandarla</a:t>
            </a:r>
            <a:endParaRPr lang="en-US" sz="1600" dirty="0"/>
          </a:p>
        </p:txBody>
      </p:sp>
      <p:sp>
        <p:nvSpPr>
          <p:cNvPr id="9" name="Text 6"/>
          <p:cNvSpPr/>
          <p:nvPr/>
        </p:nvSpPr>
        <p:spPr>
          <a:xfrm>
            <a:off x="685800" y="3794760"/>
            <a:ext cx="10835640" cy="365760"/>
          </a:xfrm>
          <a:prstGeom prst="rect">
            <a:avLst/>
          </a:prstGeom>
          <a:noFill/>
          <a:ln/>
        </p:spPr>
        <p:txBody>
          <a:bodyPr wrap="square" rtlCol="0" anchor="ctr"/>
          <a:lstStyle/>
          <a:p>
            <a:pPr algn="ctr" indent="0" marL="0">
              <a:buNone/>
            </a:pPr>
            <a:r>
              <a:rPr lang="en-US" sz="1200" dirty="0">
                <a:solidFill>
                  <a:srgbClr val="455A64"/>
                </a:solidFill>
                <a:latin typeface="Arial" pitchFamily="34" charset="0"/>
                <a:ea typeface="Arial" pitchFamily="34" charset="-122"/>
                <a:cs typeface="Arial" pitchFamily="34" charset="-120"/>
              </a:rPr>
              <a:t>Prof. Dr. Fakhteh Ghanbarnejad · Prof. Shamli Shamli</a:t>
            </a:r>
            <a:endParaRPr lang="en-US" sz="1200" dirty="0"/>
          </a:p>
        </p:txBody>
      </p:sp>
      <p:sp>
        <p:nvSpPr>
          <p:cNvPr id="10" name="Text 7"/>
          <p:cNvSpPr/>
          <p:nvPr/>
        </p:nvSpPr>
        <p:spPr>
          <a:xfrm>
            <a:off x="685800" y="4114800"/>
            <a:ext cx="10835640" cy="365760"/>
          </a:xfrm>
          <a:prstGeom prst="rect">
            <a:avLst/>
          </a:prstGeom>
          <a:noFill/>
          <a:ln/>
        </p:spPr>
        <p:txBody>
          <a:bodyPr wrap="square" rtlCol="0" anchor="ctr"/>
          <a:lstStyle/>
          <a:p>
            <a:pPr algn="ctr" indent="0" marL="0">
              <a:buNone/>
            </a:pPr>
            <a:r>
              <a:rPr lang="en-US" sz="1100" dirty="0">
                <a:solidFill>
                  <a:srgbClr val="263238"/>
                </a:solidFill>
                <a:latin typeface="Arial" pitchFamily="34" charset="0"/>
                <a:ea typeface="Arial" pitchFamily="34" charset="-122"/>
                <a:cs typeface="Arial" pitchFamily="34" charset="-120"/>
              </a:rPr>
              <a:t>SRH University of Applied Sciences — Leipzig</a:t>
            </a:r>
            <a:endParaRPr lang="en-US" sz="1100" dirty="0"/>
          </a:p>
        </p:txBody>
      </p:sp>
      <p:sp>
        <p:nvSpPr>
          <p:cNvPr id="11" name="Text 8"/>
          <p:cNvSpPr/>
          <p:nvPr/>
        </p:nvSpPr>
        <p:spPr>
          <a:xfrm>
            <a:off x="685800" y="4389120"/>
            <a:ext cx="10835640" cy="365760"/>
          </a:xfrm>
          <a:prstGeom prst="rect">
            <a:avLst/>
          </a:prstGeom>
          <a:noFill/>
          <a:ln/>
        </p:spPr>
        <p:txBody>
          <a:bodyPr wrap="square" rtlCol="0" anchor="ctr"/>
          <a:lstStyle/>
          <a:p>
            <a:pPr algn="ctr" indent="0" marL="0">
              <a:buNone/>
            </a:pPr>
            <a:r>
              <a:rPr lang="en-US" sz="1000" dirty="0">
                <a:solidFill>
                  <a:srgbClr val="455A64"/>
                </a:solidFill>
                <a:latin typeface="Arial" pitchFamily="34" charset="0"/>
                <a:ea typeface="Arial" pitchFamily="34" charset="-122"/>
                <a:cs typeface="Arial" pitchFamily="34" charset="-120"/>
              </a:rPr>
              <a:t>Matriculation 100003667  ·  WiSe24/25</a:t>
            </a:r>
            <a:endParaRPr lang="en-US" sz="1000" dirty="0"/>
          </a:p>
        </p:txBody>
      </p:sp>
      <p:sp>
        <p:nvSpPr>
          <p:cNvPr id="12" name="Text 9"/>
          <p:cNvSpPr/>
          <p:nvPr/>
        </p:nvSpPr>
        <p:spPr>
          <a:xfrm>
            <a:off x="685800" y="4937760"/>
            <a:ext cx="10835640" cy="365760"/>
          </a:xfrm>
          <a:prstGeom prst="rect">
            <a:avLst/>
          </a:prstGeom>
          <a:noFill/>
          <a:ln/>
        </p:spPr>
        <p:txBody>
          <a:bodyPr wrap="square" rtlCol="0" anchor="ctr"/>
          <a:lstStyle/>
          <a:p>
            <a:pPr algn="ctr" indent="0" marL="0">
              <a:buNone/>
            </a:pPr>
            <a:r>
              <a:rPr lang="en-US" sz="1300" b="1" dirty="0">
                <a:solidFill>
                  <a:srgbClr val="2E7D32"/>
                </a:solidFill>
                <a:latin typeface="Arial" pitchFamily="34" charset="0"/>
                <a:ea typeface="Arial" pitchFamily="34" charset="-122"/>
                <a:cs typeface="Arial" pitchFamily="34" charset="-120"/>
              </a:rPr>
              <a:t>All 12 experiments complete  ·  every figure generated from stored run artefacts</a:t>
            </a:r>
            <a:endParaRPr lang="en-US" sz="1300" dirty="0"/>
          </a:p>
        </p:txBody>
      </p:sp>
      <p:sp>
        <p:nvSpPr>
          <p:cNvPr id="13" name="Text 10"/>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1/27</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D1B2A"/>
          </a:solidFill>
          <a:ln w="12700">
            <a:solidFill>
              <a:srgbClr val="0D1B2A"/>
            </a:solidFill>
            <a:prstDash val="solid"/>
          </a:ln>
        </p:spPr>
      </p:sp>
      <p:sp>
        <p:nvSpPr>
          <p:cNvPr id="3" name="Text 1"/>
          <p:cNvSpPr/>
          <p:nvPr/>
        </p:nvSpPr>
        <p:spPr>
          <a:xfrm>
            <a:off x="320040" y="109728"/>
            <a:ext cx="9875520" cy="384048"/>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Agenda</a:t>
            </a:r>
            <a:endParaRPr lang="en-US" sz="2100" dirty="0"/>
          </a:p>
        </p:txBody>
      </p:sp>
      <p:pic>
        <p:nvPicPr>
          <p:cNvPr id="4" name="Image 0" descr="/Users/rajakarthikchirumamilla/Desktop/ham10000-cnn-comparison/presentation/logo.png">    </p:cNvPr>
          <p:cNvPicPr>
            <a:picLocks noChangeAspect="1"/>
          </p:cNvPicPr>
          <p:nvPr/>
        </p:nvPicPr>
        <p:blipFill>
          <a:blip r:embed="rId1"/>
          <a:stretch>
            <a:fillRect/>
          </a:stretch>
        </p:blipFill>
        <p:spPr>
          <a:xfrm>
            <a:off x="11109960" y="73152"/>
            <a:ext cx="914400" cy="502920"/>
          </a:xfrm>
          <a:prstGeom prst="rect">
            <a:avLst/>
          </a:prstGeom>
        </p:spPr>
      </p:pic>
      <p:sp>
        <p:nvSpPr>
          <p:cNvPr id="5" name="Text 2"/>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2/27</a:t>
            </a:r>
            <a:endParaRPr lang="en-US" sz="1000" dirty="0"/>
          </a:p>
        </p:txBody>
      </p:sp>
      <p:sp>
        <p:nvSpPr>
          <p:cNvPr id="6" name="Shape 3"/>
          <p:cNvSpPr/>
          <p:nvPr/>
        </p:nvSpPr>
        <p:spPr>
          <a:xfrm>
            <a:off x="411480" y="1143000"/>
            <a:ext cx="566928" cy="777240"/>
          </a:xfrm>
          <a:prstGeom prst="rect">
            <a:avLst/>
          </a:prstGeom>
          <a:solidFill>
            <a:srgbClr val="0D1B2A"/>
          </a:solidFill>
          <a:ln w="12700">
            <a:solidFill>
              <a:srgbClr val="0D1B2A"/>
            </a:solidFill>
            <a:prstDash val="solid"/>
          </a:ln>
        </p:spPr>
      </p:sp>
      <p:sp>
        <p:nvSpPr>
          <p:cNvPr id="7" name="Text 4"/>
          <p:cNvSpPr/>
          <p:nvPr/>
        </p:nvSpPr>
        <p:spPr>
          <a:xfrm>
            <a:off x="411480" y="1143000"/>
            <a:ext cx="566928" cy="77724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I</a:t>
            </a:r>
            <a:endParaRPr lang="en-US" sz="2200" dirty="0"/>
          </a:p>
        </p:txBody>
      </p:sp>
      <p:sp>
        <p:nvSpPr>
          <p:cNvPr id="8" name="Text 5"/>
          <p:cNvSpPr/>
          <p:nvPr/>
        </p:nvSpPr>
        <p:spPr>
          <a:xfrm>
            <a:off x="1188720" y="1188720"/>
            <a:ext cx="3840480" cy="685800"/>
          </a:xfrm>
          <a:prstGeom prst="rect">
            <a:avLst/>
          </a:prstGeom>
          <a:noFill/>
          <a:ln/>
        </p:spPr>
        <p:txBody>
          <a:bodyPr wrap="square" rtlCol="0" anchor="ctr"/>
          <a:lstStyle/>
          <a:p>
            <a:pPr indent="0" marL="0">
              <a:buNone/>
            </a:pPr>
            <a:r>
              <a:rPr lang="en-US" sz="1700" b="1" dirty="0">
                <a:solidFill>
                  <a:srgbClr val="0D1B2A"/>
                </a:solidFill>
                <a:latin typeface="Arial" pitchFamily="34" charset="0"/>
                <a:ea typeface="Arial" pitchFamily="34" charset="-122"/>
                <a:cs typeface="Arial" pitchFamily="34" charset="-120"/>
              </a:rPr>
              <a:t>The problem</a:t>
            </a:r>
            <a:endParaRPr lang="en-US" sz="1700" dirty="0"/>
          </a:p>
        </p:txBody>
      </p:sp>
      <p:sp>
        <p:nvSpPr>
          <p:cNvPr id="9" name="Text 6"/>
          <p:cNvSpPr/>
          <p:nvPr/>
        </p:nvSpPr>
        <p:spPr>
          <a:xfrm>
            <a:off x="5166360" y="1188720"/>
            <a:ext cx="6583680" cy="685800"/>
          </a:xfrm>
          <a:prstGeom prst="rect">
            <a:avLst/>
          </a:prstGeom>
          <a:noFill/>
          <a:ln/>
        </p:spPr>
        <p:txBody>
          <a:bodyPr wrap="square" rtlCol="0" anchor="ctr"/>
          <a:lstStyle/>
          <a:p>
            <a:pPr indent="0" marL="0">
              <a:buNone/>
            </a:pPr>
            <a:r>
              <a:rPr lang="en-US" sz="1250" dirty="0">
                <a:solidFill>
                  <a:srgbClr val="263238"/>
                </a:solidFill>
                <a:latin typeface="Arial" pitchFamily="34" charset="0"/>
                <a:ea typeface="Arial" pitchFamily="34" charset="-122"/>
                <a:cs typeface="Arial" pitchFamily="34" charset="-120"/>
              </a:rPr>
              <a:t>Why melanoma triage needs a small model</a:t>
            </a:r>
            <a:endParaRPr lang="en-US" sz="1250" dirty="0"/>
          </a:p>
        </p:txBody>
      </p:sp>
      <p:sp>
        <p:nvSpPr>
          <p:cNvPr id="10" name="Shape 7"/>
          <p:cNvSpPr/>
          <p:nvPr/>
        </p:nvSpPr>
        <p:spPr>
          <a:xfrm>
            <a:off x="411480" y="2103120"/>
            <a:ext cx="566928" cy="777240"/>
          </a:xfrm>
          <a:prstGeom prst="rect">
            <a:avLst/>
          </a:prstGeom>
          <a:solidFill>
            <a:srgbClr val="D54407"/>
          </a:solidFill>
          <a:ln w="12700">
            <a:solidFill>
              <a:srgbClr val="D54407"/>
            </a:solidFill>
            <a:prstDash val="solid"/>
          </a:ln>
        </p:spPr>
      </p:sp>
      <p:sp>
        <p:nvSpPr>
          <p:cNvPr id="11" name="Text 8"/>
          <p:cNvSpPr/>
          <p:nvPr/>
        </p:nvSpPr>
        <p:spPr>
          <a:xfrm>
            <a:off x="411480" y="2103120"/>
            <a:ext cx="566928" cy="77724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II</a:t>
            </a:r>
            <a:endParaRPr lang="en-US" sz="2200" dirty="0"/>
          </a:p>
        </p:txBody>
      </p:sp>
      <p:sp>
        <p:nvSpPr>
          <p:cNvPr id="12" name="Text 9"/>
          <p:cNvSpPr/>
          <p:nvPr/>
        </p:nvSpPr>
        <p:spPr>
          <a:xfrm>
            <a:off x="1188720" y="2148840"/>
            <a:ext cx="3840480" cy="685800"/>
          </a:xfrm>
          <a:prstGeom prst="rect">
            <a:avLst/>
          </a:prstGeom>
          <a:noFill/>
          <a:ln/>
        </p:spPr>
        <p:txBody>
          <a:bodyPr wrap="square" rtlCol="0" anchor="ctr"/>
          <a:lstStyle/>
          <a:p>
            <a:pPr indent="0" marL="0">
              <a:buNone/>
            </a:pPr>
            <a:r>
              <a:rPr lang="en-US" sz="1700" b="1" dirty="0">
                <a:solidFill>
                  <a:srgbClr val="0D1B2A"/>
                </a:solidFill>
                <a:latin typeface="Arial" pitchFamily="34" charset="0"/>
                <a:ea typeface="Arial" pitchFamily="34" charset="-122"/>
                <a:cs typeface="Arial" pitchFamily="34" charset="-120"/>
              </a:rPr>
              <a:t>Design</a:t>
            </a:r>
            <a:endParaRPr lang="en-US" sz="1700" dirty="0"/>
          </a:p>
        </p:txBody>
      </p:sp>
      <p:sp>
        <p:nvSpPr>
          <p:cNvPr id="13" name="Text 10"/>
          <p:cNvSpPr/>
          <p:nvPr/>
        </p:nvSpPr>
        <p:spPr>
          <a:xfrm>
            <a:off x="5166360" y="2148840"/>
            <a:ext cx="6583680" cy="685800"/>
          </a:xfrm>
          <a:prstGeom prst="rect">
            <a:avLst/>
          </a:prstGeom>
          <a:noFill/>
          <a:ln/>
        </p:spPr>
        <p:txBody>
          <a:bodyPr wrap="square" rtlCol="0" anchor="ctr"/>
          <a:lstStyle/>
          <a:p>
            <a:pPr indent="0" marL="0">
              <a:buNone/>
            </a:pPr>
            <a:r>
              <a:rPr lang="en-US" sz="1250" dirty="0">
                <a:solidFill>
                  <a:srgbClr val="263238"/>
                </a:solidFill>
                <a:latin typeface="Arial" pitchFamily="34" charset="0"/>
                <a:ea typeface="Arial" pitchFamily="34" charset="-122"/>
                <a:cs typeface="Arial" pitchFamily="34" charset="-120"/>
              </a:rPr>
              <a:t>The 12-run controlled factorial</a:t>
            </a:r>
            <a:endParaRPr lang="en-US" sz="1250" dirty="0"/>
          </a:p>
        </p:txBody>
      </p:sp>
      <p:sp>
        <p:nvSpPr>
          <p:cNvPr id="14" name="Shape 11"/>
          <p:cNvSpPr/>
          <p:nvPr/>
        </p:nvSpPr>
        <p:spPr>
          <a:xfrm>
            <a:off x="411480" y="3063240"/>
            <a:ext cx="566928" cy="777240"/>
          </a:xfrm>
          <a:prstGeom prst="rect">
            <a:avLst/>
          </a:prstGeom>
          <a:solidFill>
            <a:srgbClr val="0D1B2A"/>
          </a:solidFill>
          <a:ln w="12700">
            <a:solidFill>
              <a:srgbClr val="0D1B2A"/>
            </a:solidFill>
            <a:prstDash val="solid"/>
          </a:ln>
        </p:spPr>
      </p:sp>
      <p:sp>
        <p:nvSpPr>
          <p:cNvPr id="15" name="Text 12"/>
          <p:cNvSpPr/>
          <p:nvPr/>
        </p:nvSpPr>
        <p:spPr>
          <a:xfrm>
            <a:off x="411480" y="3063240"/>
            <a:ext cx="566928" cy="77724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III</a:t>
            </a:r>
            <a:endParaRPr lang="en-US" sz="2200" dirty="0"/>
          </a:p>
        </p:txBody>
      </p:sp>
      <p:sp>
        <p:nvSpPr>
          <p:cNvPr id="16" name="Text 13"/>
          <p:cNvSpPr/>
          <p:nvPr/>
        </p:nvSpPr>
        <p:spPr>
          <a:xfrm>
            <a:off x="1188720" y="3108960"/>
            <a:ext cx="3840480" cy="685800"/>
          </a:xfrm>
          <a:prstGeom prst="rect">
            <a:avLst/>
          </a:prstGeom>
          <a:noFill/>
          <a:ln/>
        </p:spPr>
        <p:txBody>
          <a:bodyPr wrap="square" rtlCol="0" anchor="ctr"/>
          <a:lstStyle/>
          <a:p>
            <a:pPr indent="0" marL="0">
              <a:buNone/>
            </a:pPr>
            <a:r>
              <a:rPr lang="en-US" sz="1700" b="1" dirty="0">
                <a:solidFill>
                  <a:srgbClr val="0D1B2A"/>
                </a:solidFill>
                <a:latin typeface="Arial" pitchFamily="34" charset="0"/>
                <a:ea typeface="Arial" pitchFamily="34" charset="-122"/>
                <a:cs typeface="Arial" pitchFamily="34" charset="-120"/>
              </a:rPr>
              <a:t>Results</a:t>
            </a:r>
            <a:endParaRPr lang="en-US" sz="1700" dirty="0"/>
          </a:p>
        </p:txBody>
      </p:sp>
      <p:sp>
        <p:nvSpPr>
          <p:cNvPr id="17" name="Text 14"/>
          <p:cNvSpPr/>
          <p:nvPr/>
        </p:nvSpPr>
        <p:spPr>
          <a:xfrm>
            <a:off x="5166360" y="3108960"/>
            <a:ext cx="6583680" cy="685800"/>
          </a:xfrm>
          <a:prstGeom prst="rect">
            <a:avLst/>
          </a:prstGeom>
          <a:noFill/>
          <a:ln/>
        </p:spPr>
        <p:txBody>
          <a:bodyPr wrap="square" rtlCol="0" anchor="ctr"/>
          <a:lstStyle/>
          <a:p>
            <a:pPr indent="0" marL="0">
              <a:buNone/>
            </a:pPr>
            <a:r>
              <a:rPr lang="en-US" sz="1250" dirty="0">
                <a:solidFill>
                  <a:srgbClr val="263238"/>
                </a:solidFill>
                <a:latin typeface="Arial" pitchFamily="34" charset="0"/>
                <a:ea typeface="Arial" pitchFamily="34" charset="-122"/>
                <a:cs typeface="Arial" pitchFamily="34" charset="-120"/>
              </a:rPr>
              <a:t>RQ1, RQ2, RQ3 and the statistics</a:t>
            </a:r>
            <a:endParaRPr lang="en-US" sz="1250" dirty="0"/>
          </a:p>
        </p:txBody>
      </p:sp>
      <p:sp>
        <p:nvSpPr>
          <p:cNvPr id="18" name="Shape 15"/>
          <p:cNvSpPr/>
          <p:nvPr/>
        </p:nvSpPr>
        <p:spPr>
          <a:xfrm>
            <a:off x="411480" y="4023360"/>
            <a:ext cx="566928" cy="777240"/>
          </a:xfrm>
          <a:prstGeom prst="rect">
            <a:avLst/>
          </a:prstGeom>
          <a:solidFill>
            <a:srgbClr val="D54407"/>
          </a:solidFill>
          <a:ln w="12700">
            <a:solidFill>
              <a:srgbClr val="D54407"/>
            </a:solidFill>
            <a:prstDash val="solid"/>
          </a:ln>
        </p:spPr>
      </p:sp>
      <p:sp>
        <p:nvSpPr>
          <p:cNvPr id="19" name="Text 16"/>
          <p:cNvSpPr/>
          <p:nvPr/>
        </p:nvSpPr>
        <p:spPr>
          <a:xfrm>
            <a:off x="411480" y="4023360"/>
            <a:ext cx="566928" cy="77724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IV</a:t>
            </a:r>
            <a:endParaRPr lang="en-US" sz="2200" dirty="0"/>
          </a:p>
        </p:txBody>
      </p:sp>
      <p:sp>
        <p:nvSpPr>
          <p:cNvPr id="20" name="Text 17"/>
          <p:cNvSpPr/>
          <p:nvPr/>
        </p:nvSpPr>
        <p:spPr>
          <a:xfrm>
            <a:off x="1188720" y="4069080"/>
            <a:ext cx="3840480" cy="685800"/>
          </a:xfrm>
          <a:prstGeom prst="rect">
            <a:avLst/>
          </a:prstGeom>
          <a:noFill/>
          <a:ln/>
        </p:spPr>
        <p:txBody>
          <a:bodyPr wrap="square" rtlCol="0" anchor="ctr"/>
          <a:lstStyle/>
          <a:p>
            <a:pPr indent="0" marL="0">
              <a:buNone/>
            </a:pPr>
            <a:r>
              <a:rPr lang="en-US" sz="1700" b="1" dirty="0">
                <a:solidFill>
                  <a:srgbClr val="0D1B2A"/>
                </a:solidFill>
                <a:latin typeface="Arial" pitchFamily="34" charset="0"/>
                <a:ea typeface="Arial" pitchFamily="34" charset="-122"/>
                <a:cs typeface="Arial" pitchFamily="34" charset="-120"/>
              </a:rPr>
              <a:t>The ablation</a:t>
            </a:r>
            <a:endParaRPr lang="en-US" sz="1700" dirty="0"/>
          </a:p>
        </p:txBody>
      </p:sp>
      <p:sp>
        <p:nvSpPr>
          <p:cNvPr id="21" name="Text 18"/>
          <p:cNvSpPr/>
          <p:nvPr/>
        </p:nvSpPr>
        <p:spPr>
          <a:xfrm>
            <a:off x="5166360" y="4069080"/>
            <a:ext cx="6583680" cy="685800"/>
          </a:xfrm>
          <a:prstGeom prst="rect">
            <a:avLst/>
          </a:prstGeom>
          <a:noFill/>
          <a:ln/>
        </p:spPr>
        <p:txBody>
          <a:bodyPr wrap="square" rtlCol="0" anchor="ctr"/>
          <a:lstStyle/>
          <a:p>
            <a:pPr indent="0" marL="0">
              <a:buNone/>
            </a:pPr>
            <a:r>
              <a:rPr lang="en-US" sz="1250" dirty="0">
                <a:solidFill>
                  <a:srgbClr val="263238"/>
                </a:solidFill>
                <a:latin typeface="Arial" pitchFamily="34" charset="0"/>
                <a:ea typeface="Arial" pitchFamily="34" charset="-122"/>
                <a:cs typeface="Arial" pitchFamily="34" charset="-120"/>
              </a:rPr>
              <a:t>EfficientNet-B3 at two resolutions</a:t>
            </a:r>
            <a:endParaRPr lang="en-US" sz="1250" dirty="0"/>
          </a:p>
        </p:txBody>
      </p:sp>
      <p:sp>
        <p:nvSpPr>
          <p:cNvPr id="22" name="Shape 19"/>
          <p:cNvSpPr/>
          <p:nvPr/>
        </p:nvSpPr>
        <p:spPr>
          <a:xfrm>
            <a:off x="411480" y="4983480"/>
            <a:ext cx="566928" cy="777240"/>
          </a:xfrm>
          <a:prstGeom prst="rect">
            <a:avLst/>
          </a:prstGeom>
          <a:solidFill>
            <a:srgbClr val="0D1B2A"/>
          </a:solidFill>
          <a:ln w="12700">
            <a:solidFill>
              <a:srgbClr val="0D1B2A"/>
            </a:solidFill>
            <a:prstDash val="solid"/>
          </a:ln>
        </p:spPr>
      </p:sp>
      <p:sp>
        <p:nvSpPr>
          <p:cNvPr id="23" name="Text 20"/>
          <p:cNvSpPr/>
          <p:nvPr/>
        </p:nvSpPr>
        <p:spPr>
          <a:xfrm>
            <a:off x="411480" y="4983480"/>
            <a:ext cx="566928" cy="77724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V</a:t>
            </a:r>
            <a:endParaRPr lang="en-US" sz="2200" dirty="0"/>
          </a:p>
        </p:txBody>
      </p:sp>
      <p:sp>
        <p:nvSpPr>
          <p:cNvPr id="24" name="Text 21"/>
          <p:cNvSpPr/>
          <p:nvPr/>
        </p:nvSpPr>
        <p:spPr>
          <a:xfrm>
            <a:off x="1188720" y="5029200"/>
            <a:ext cx="3840480" cy="685800"/>
          </a:xfrm>
          <a:prstGeom prst="rect">
            <a:avLst/>
          </a:prstGeom>
          <a:noFill/>
          <a:ln/>
        </p:spPr>
        <p:txBody>
          <a:bodyPr wrap="square" rtlCol="0" anchor="ctr"/>
          <a:lstStyle/>
          <a:p>
            <a:pPr indent="0" marL="0">
              <a:buNone/>
            </a:pPr>
            <a:r>
              <a:rPr lang="en-US" sz="1700" b="1" dirty="0">
                <a:solidFill>
                  <a:srgbClr val="0D1B2A"/>
                </a:solidFill>
                <a:latin typeface="Arial" pitchFamily="34" charset="0"/>
                <a:ea typeface="Arial" pitchFamily="34" charset="-122"/>
                <a:cs typeface="Arial" pitchFamily="34" charset="-120"/>
              </a:rPr>
              <a:t>What I got wrong</a:t>
            </a:r>
            <a:endParaRPr lang="en-US" sz="1700" dirty="0"/>
          </a:p>
        </p:txBody>
      </p:sp>
      <p:sp>
        <p:nvSpPr>
          <p:cNvPr id="25" name="Text 22"/>
          <p:cNvSpPr/>
          <p:nvPr/>
        </p:nvSpPr>
        <p:spPr>
          <a:xfrm>
            <a:off x="5166360" y="5029200"/>
            <a:ext cx="6583680" cy="685800"/>
          </a:xfrm>
          <a:prstGeom prst="rect">
            <a:avLst/>
          </a:prstGeom>
          <a:noFill/>
          <a:ln/>
        </p:spPr>
        <p:txBody>
          <a:bodyPr wrap="square" rtlCol="0" anchor="ctr"/>
          <a:lstStyle/>
          <a:p>
            <a:pPr indent="0" marL="0">
              <a:buNone/>
            </a:pPr>
            <a:r>
              <a:rPr lang="en-US" sz="1250" dirty="0">
                <a:solidFill>
                  <a:srgbClr val="263238"/>
                </a:solidFill>
                <a:latin typeface="Arial" pitchFamily="34" charset="0"/>
                <a:ea typeface="Arial" pitchFamily="34" charset="-122"/>
                <a:cs typeface="Arial" pitchFamily="34" charset="-120"/>
              </a:rPr>
              <a:t>Limitations found along the way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2743200"/>
            <a:ext cx="109728" cy="1188720"/>
          </a:xfrm>
          <a:prstGeom prst="rect">
            <a:avLst/>
          </a:prstGeom>
          <a:solidFill>
            <a:srgbClr val="D54407"/>
          </a:solidFill>
          <a:ln w="12700">
            <a:solidFill>
              <a:srgbClr val="D54407"/>
            </a:solidFill>
            <a:prstDash val="solid"/>
          </a:ln>
        </p:spPr>
      </p:sp>
      <p:sp>
        <p:nvSpPr>
          <p:cNvPr id="3" name="Text 1"/>
          <p:cNvSpPr/>
          <p:nvPr/>
        </p:nvSpPr>
        <p:spPr>
          <a:xfrm>
            <a:off x="457200" y="2743200"/>
            <a:ext cx="10515600" cy="82296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The Problem</a:t>
            </a:r>
            <a:endParaRPr lang="en-US" sz="3400" dirty="0"/>
          </a:p>
        </p:txBody>
      </p:sp>
      <p:sp>
        <p:nvSpPr>
          <p:cNvPr id="4" name="Text 2"/>
          <p:cNvSpPr/>
          <p:nvPr/>
        </p:nvSpPr>
        <p:spPr>
          <a:xfrm>
            <a:off x="457200" y="3520440"/>
            <a:ext cx="10515600" cy="457200"/>
          </a:xfrm>
          <a:prstGeom prst="rect">
            <a:avLst/>
          </a:prstGeom>
          <a:noFill/>
          <a:ln/>
        </p:spPr>
        <p:txBody>
          <a:bodyPr wrap="square" rtlCol="0" anchor="ctr"/>
          <a:lstStyle/>
          <a:p>
            <a:pPr indent="0" marL="0">
              <a:buNone/>
            </a:pPr>
            <a:r>
              <a:rPr lang="en-US" sz="1500" dirty="0">
                <a:solidFill>
                  <a:srgbClr val="90A4AE"/>
                </a:solidFill>
                <a:latin typeface="Arial" pitchFamily="34" charset="0"/>
                <a:ea typeface="Arial" pitchFamily="34" charset="-122"/>
                <a:cs typeface="Arial" pitchFamily="34" charset="-120"/>
              </a:rPr>
              <a:t>Why this comparison is worth running</a:t>
            </a:r>
            <a:endParaRPr lang="en-US" sz="1500" dirty="0"/>
          </a:p>
        </p:txBody>
      </p:sp>
      <p:sp>
        <p:nvSpPr>
          <p:cNvPr id="5"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3/27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D1B2A"/>
          </a:solidFill>
          <a:ln w="12700">
            <a:solidFill>
              <a:srgbClr val="0D1B2A"/>
            </a:solidFill>
            <a:prstDash val="solid"/>
          </a:ln>
        </p:spPr>
      </p:sp>
      <p:sp>
        <p:nvSpPr>
          <p:cNvPr id="3" name="Text 1"/>
          <p:cNvSpPr/>
          <p:nvPr/>
        </p:nvSpPr>
        <p:spPr>
          <a:xfrm>
            <a:off x="320040" y="54864"/>
            <a:ext cx="9875520" cy="219456"/>
          </a:xfrm>
          <a:prstGeom prst="rect">
            <a:avLst/>
          </a:prstGeom>
          <a:noFill/>
          <a:ln/>
        </p:spPr>
        <p:txBody>
          <a:bodyPr wrap="square" rtlCol="0" anchor="ctr"/>
          <a:lstStyle/>
          <a:p>
            <a:pPr indent="0" marL="0">
              <a:buNone/>
            </a:pPr>
            <a:r>
              <a:rPr lang="en-US" sz="1000" b="1" spc="100" kern="0" dirty="0">
                <a:solidFill>
                  <a:srgbClr val="D54407"/>
                </a:solidFill>
                <a:latin typeface="Arial" pitchFamily="34" charset="0"/>
                <a:ea typeface="Arial" pitchFamily="34" charset="-122"/>
                <a:cs typeface="Arial" pitchFamily="34" charset="-120"/>
              </a:rPr>
              <a:t>MOTIVATION</a:t>
            </a:r>
            <a:endParaRPr lang="en-US" sz="1000" dirty="0"/>
          </a:p>
        </p:txBody>
      </p:sp>
      <p:sp>
        <p:nvSpPr>
          <p:cNvPr id="4" name="Text 2"/>
          <p:cNvSpPr/>
          <p:nvPr/>
        </p:nvSpPr>
        <p:spPr>
          <a:xfrm>
            <a:off x="320040" y="256032"/>
            <a:ext cx="9875520" cy="384048"/>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Melanoma Is a Timing Problem</a:t>
            </a:r>
            <a:endParaRPr lang="en-US" sz="2100" dirty="0"/>
          </a:p>
        </p:txBody>
      </p:sp>
      <p:pic>
        <p:nvPicPr>
          <p:cNvPr id="5" name="Image 0" descr="/Users/rajakarthikchirumamilla/Desktop/ham10000-cnn-comparison/presentation/logo.png">    </p:cNvPr>
          <p:cNvPicPr>
            <a:picLocks noChangeAspect="1"/>
          </p:cNvPicPr>
          <p:nvPr/>
        </p:nvPicPr>
        <p:blipFill>
          <a:blip r:embed="rId1"/>
          <a:stretch>
            <a:fillRect/>
          </a:stretch>
        </p:blipFill>
        <p:spPr>
          <a:xfrm>
            <a:off x="11109960" y="73152"/>
            <a:ext cx="914400" cy="502920"/>
          </a:xfrm>
          <a:prstGeom prst="rect">
            <a:avLst/>
          </a:prstGeom>
        </p:spPr>
      </p:pic>
      <p:sp>
        <p:nvSpPr>
          <p:cNvPr id="6"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4/27</a:t>
            </a:r>
            <a:endParaRPr lang="en-US" sz="1000" dirty="0"/>
          </a:p>
        </p:txBody>
      </p:sp>
      <p:sp>
        <p:nvSpPr>
          <p:cNvPr id="7" name="Text 4"/>
          <p:cNvSpPr/>
          <p:nvPr/>
        </p:nvSpPr>
        <p:spPr>
          <a:xfrm>
            <a:off x="411480" y="868680"/>
            <a:ext cx="11338560" cy="4023360"/>
          </a:xfrm>
          <a:prstGeom prst="rect">
            <a:avLst/>
          </a:prstGeom>
          <a:noFill/>
          <a:ln/>
        </p:spPr>
        <p:txBody>
          <a:bodyPr wrap="square" rtlCol="0" anchor="t"/>
          <a:lstStyle/>
          <a:p>
            <a:pPr marL="342900" indent="-342900">
              <a:spcAft>
                <a:spcPts val="600"/>
              </a:spcAft>
              <a:buSzPct val="100000"/>
              <a:buChar char="•"/>
            </a:pPr>
            <a:r>
              <a:rPr lang="en-US" sz="1500" dirty="0">
                <a:solidFill>
                  <a:srgbClr val="263238"/>
                </a:solidFill>
                <a:latin typeface="Arial" pitchFamily="34" charset="0"/>
                <a:ea typeface="Arial" pitchFamily="34" charset="-122"/>
                <a:cs typeface="Arial" pitchFamily="34" charset="-120"/>
              </a:rPr>
              <a:t>Melanoma survival is near 100% when caught early, below 30% once it has metastasised</a:t>
            </a:r>
            <a:endParaRPr lang="en-US" sz="1500" dirty="0"/>
          </a:p>
          <a:p>
            <a:pPr marL="342900" indent="-342900">
              <a:spcAft>
                <a:spcPts val="600"/>
              </a:spcAft>
              <a:buSzPct val="100000"/>
              <a:buChar char="•"/>
            </a:pPr>
            <a:r>
              <a:rPr lang="en-US" sz="1500" dirty="0">
                <a:solidFill>
                  <a:srgbClr val="263238"/>
                </a:solidFill>
                <a:latin typeface="Arial" pitchFamily="34" charset="0"/>
                <a:ea typeface="Arial" pitchFamily="34" charset="-122"/>
                <a:cs typeface="Arial" pitchFamily="34" charset="-120"/>
              </a:rPr>
              <a:t>Nothing about the tumour changes in between except how long it was left alone</a:t>
            </a:r>
            <a:endParaRPr lang="en-US" sz="1500" dirty="0"/>
          </a:p>
          <a:p>
            <a:pPr indent="0" marL="0">
              <a:spcAft>
                <a:spcPts val="600"/>
              </a:spcAft>
              <a:buNone/>
            </a:pPr>
            <a:r>
              <a:rPr lang="en-US" sz="700" dirty="0">
                <a:solidFill>
                  <a:srgbClr val="263238"/>
                </a:solidFill>
                <a:latin typeface="Arial" pitchFamily="34" charset="0"/>
                <a:ea typeface="Arial" pitchFamily="34" charset="-122"/>
                <a:cs typeface="Arial" pitchFamily="34" charset="-120"/>
              </a:rPr>
              <a:t> </a:t>
            </a:r>
            <a:endParaRPr lang="en-US" sz="1500" dirty="0"/>
          </a:p>
          <a:p>
            <a:pPr marL="342900" indent="-342900">
              <a:spcAft>
                <a:spcPts val="600"/>
              </a:spcAft>
              <a:buSzPct val="100000"/>
              <a:buChar char="•"/>
            </a:pPr>
            <a:r>
              <a:rPr lang="en-US" sz="1500" dirty="0">
                <a:solidFill>
                  <a:srgbClr val="263238"/>
                </a:solidFill>
                <a:latin typeface="Arial" pitchFamily="34" charset="0"/>
                <a:ea typeface="Arial" pitchFamily="34" charset="-122"/>
                <a:cs typeface="Arial" pitchFamily="34" charset="-120"/>
              </a:rPr>
              <a:t>So the bottleneck is access, not treatment: getting a suspicious lesion in front of someone qualified</a:t>
            </a:r>
            <a:endParaRPr lang="en-US" sz="1500" dirty="0"/>
          </a:p>
          <a:p>
            <a:pPr marL="342900" indent="-342900">
              <a:spcAft>
                <a:spcPts val="600"/>
              </a:spcAft>
              <a:buSzPct val="100000"/>
              <a:buChar char="•"/>
            </a:pPr>
            <a:r>
              <a:rPr lang="en-US" sz="1500" dirty="0">
                <a:solidFill>
                  <a:srgbClr val="263238"/>
                </a:solidFill>
                <a:latin typeface="Arial" pitchFamily="34" charset="0"/>
                <a:ea typeface="Arial" pitchFamily="34" charset="-122"/>
                <a:cs typeface="Arial" pitchFamily="34" charset="-120"/>
              </a:rPr>
              <a:t>A triage tool does not need to replace a dermatologist. It needs to sort the queue</a:t>
            </a:r>
            <a:endParaRPr lang="en-US" sz="1500" dirty="0"/>
          </a:p>
          <a:p>
            <a:pPr indent="0" marL="0">
              <a:spcAft>
                <a:spcPts val="600"/>
              </a:spcAft>
              <a:buNone/>
            </a:pPr>
            <a:r>
              <a:rPr lang="en-US" sz="700" dirty="0">
                <a:solidFill>
                  <a:srgbClr val="263238"/>
                </a:solidFill>
                <a:latin typeface="Arial" pitchFamily="34" charset="0"/>
                <a:ea typeface="Arial" pitchFamily="34" charset="-122"/>
                <a:cs typeface="Arial" pitchFamily="34" charset="-120"/>
              </a:rPr>
              <a:t> </a:t>
            </a:r>
            <a:endParaRPr lang="en-US" sz="1500" dirty="0"/>
          </a:p>
          <a:p>
            <a:pPr marL="342900" indent="-342900">
              <a:spcAft>
                <a:spcPts val="600"/>
              </a:spcAft>
              <a:buSzPct val="100000"/>
              <a:buChar char="•"/>
            </a:pPr>
            <a:r>
              <a:rPr lang="en-US" sz="1500" dirty="0">
                <a:solidFill>
                  <a:srgbClr val="263238"/>
                </a:solidFill>
                <a:latin typeface="Arial" pitchFamily="34" charset="0"/>
                <a:ea typeface="Arial" pitchFamily="34" charset="-122"/>
                <a:cs typeface="Arial" pitchFamily="34" charset="-120"/>
              </a:rPr>
              <a:t>But a triage tool has to run on the device in front of the patient, and that is where the accuracy literature stops helping</a:t>
            </a:r>
            <a:endParaRPr lang="en-US" sz="1500" dirty="0"/>
          </a:p>
        </p:txBody>
      </p:sp>
      <p:sp>
        <p:nvSpPr>
          <p:cNvPr id="8" name="Shape 5"/>
          <p:cNvSpPr/>
          <p:nvPr/>
        </p:nvSpPr>
        <p:spPr>
          <a:xfrm>
            <a:off x="411480" y="5586984"/>
            <a:ext cx="11338560" cy="676656"/>
          </a:xfrm>
          <a:prstGeom prst="rect">
            <a:avLst/>
          </a:prstGeom>
          <a:solidFill>
            <a:srgbClr val="F5F5F5"/>
          </a:solidFill>
          <a:ln w="12700">
            <a:solidFill>
              <a:srgbClr val="E0E0E0"/>
            </a:solidFill>
            <a:prstDash val="solid"/>
          </a:ln>
        </p:spPr>
      </p:sp>
      <p:sp>
        <p:nvSpPr>
          <p:cNvPr id="9" name="Text 6"/>
          <p:cNvSpPr/>
          <p:nvPr/>
        </p:nvSpPr>
        <p:spPr>
          <a:xfrm>
            <a:off x="594360" y="5586984"/>
            <a:ext cx="10972800" cy="676656"/>
          </a:xfrm>
          <a:prstGeom prst="rect">
            <a:avLst/>
          </a:prstGeom>
          <a:noFill/>
          <a:ln/>
        </p:spPr>
        <p:txBody>
          <a:bodyPr wrap="square" rtlCol="0" anchor="ctr"/>
          <a:lstStyle/>
          <a:p>
            <a:pPr indent="0" marL="0">
              <a:buNone/>
            </a:pPr>
            <a:r>
              <a:rPr lang="en-US" sz="1200" b="1" i="1" dirty="0">
                <a:solidFill>
                  <a:srgbClr val="0D1B2A"/>
                </a:solidFill>
                <a:latin typeface="Arial" pitchFamily="34" charset="0"/>
                <a:ea typeface="Arial" pitchFamily="34" charset="-122"/>
                <a:cs typeface="Arial" pitchFamily="34" charset="-120"/>
              </a:rPr>
              <a:t>The constraint: </a:t>
            </a:r>
            <a:pPr indent="0" marL="0">
              <a:buNone/>
            </a:pPr>
            <a:r>
              <a:rPr lang="en-US" sz="1200" i="1" dirty="0">
                <a:solidFill>
                  <a:srgbClr val="0D1B2A"/>
                </a:solidFill>
                <a:latin typeface="Arial" pitchFamily="34" charset="0"/>
                <a:ea typeface="Arial" pitchFamily="34" charset="-122"/>
                <a:cs typeface="Arial" pitchFamily="34" charset="-120"/>
              </a:rPr>
              <a:t>ResNet-50 serialises to 94.3 MB in the 7-class configuration used here. MobileNetV2 comes to 9.07 MB. That decides whether a model ships inside an app or behind a network call, and an offline screening tool cannot depend on a network call.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D1B2A"/>
          </a:solidFill>
          <a:ln w="12700">
            <a:solidFill>
              <a:srgbClr val="0D1B2A"/>
            </a:solidFill>
            <a:prstDash val="solid"/>
          </a:ln>
        </p:spPr>
      </p:sp>
      <p:sp>
        <p:nvSpPr>
          <p:cNvPr id="3" name="Text 1"/>
          <p:cNvSpPr/>
          <p:nvPr/>
        </p:nvSpPr>
        <p:spPr>
          <a:xfrm>
            <a:off x="320040" y="54864"/>
            <a:ext cx="9875520" cy="219456"/>
          </a:xfrm>
          <a:prstGeom prst="rect">
            <a:avLst/>
          </a:prstGeom>
          <a:noFill/>
          <a:ln/>
        </p:spPr>
        <p:txBody>
          <a:bodyPr wrap="square" rtlCol="0" anchor="ctr"/>
          <a:lstStyle/>
          <a:p>
            <a:pPr indent="0" marL="0">
              <a:buNone/>
            </a:pPr>
            <a:r>
              <a:rPr lang="en-US" sz="1000" b="1" spc="100" kern="0" dirty="0">
                <a:solidFill>
                  <a:srgbClr val="D54407"/>
                </a:solidFill>
                <a:latin typeface="Arial" pitchFamily="34" charset="0"/>
                <a:ea typeface="Arial" pitchFamily="34" charset="-122"/>
                <a:cs typeface="Arial" pitchFamily="34" charset="-120"/>
              </a:rPr>
              <a:t>MOTIVATION</a:t>
            </a:r>
            <a:endParaRPr lang="en-US" sz="1000" dirty="0"/>
          </a:p>
        </p:txBody>
      </p:sp>
      <p:sp>
        <p:nvSpPr>
          <p:cNvPr id="4" name="Text 2"/>
          <p:cNvSpPr/>
          <p:nvPr/>
        </p:nvSpPr>
        <p:spPr>
          <a:xfrm>
            <a:off x="320040" y="256032"/>
            <a:ext cx="9875520" cy="384048"/>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Why the Published Record Does Not Answer It</a:t>
            </a:r>
            <a:endParaRPr lang="en-US" sz="2100" dirty="0"/>
          </a:p>
        </p:txBody>
      </p:sp>
      <p:pic>
        <p:nvPicPr>
          <p:cNvPr id="5" name="Image 0" descr="/Users/rajakarthikchirumamilla/Desktop/ham10000-cnn-comparison/presentation/logo.png">    </p:cNvPr>
          <p:cNvPicPr>
            <a:picLocks noChangeAspect="1"/>
          </p:cNvPicPr>
          <p:nvPr/>
        </p:nvPicPr>
        <p:blipFill>
          <a:blip r:embed="rId1"/>
          <a:stretch>
            <a:fillRect/>
          </a:stretch>
        </p:blipFill>
        <p:spPr>
          <a:xfrm>
            <a:off x="11109960" y="73152"/>
            <a:ext cx="914400" cy="502920"/>
          </a:xfrm>
          <a:prstGeom prst="rect">
            <a:avLst/>
          </a:prstGeom>
        </p:spPr>
      </p:pic>
      <p:sp>
        <p:nvSpPr>
          <p:cNvPr id="6"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5/27</a:t>
            </a:r>
            <a:endParaRPr lang="en-US" sz="1000" dirty="0"/>
          </a:p>
        </p:txBody>
      </p:sp>
      <p:sp>
        <p:nvSpPr>
          <p:cNvPr id="7" name="Text 4"/>
          <p:cNvSpPr/>
          <p:nvPr/>
        </p:nvSpPr>
        <p:spPr>
          <a:xfrm>
            <a:off x="411480" y="868680"/>
            <a:ext cx="11338560" cy="4023360"/>
          </a:xfrm>
          <a:prstGeom prst="rect">
            <a:avLst/>
          </a:prstGeom>
          <a:noFill/>
          <a:ln/>
        </p:spPr>
        <p:txBody>
          <a:bodyPr wrap="square" rtlCol="0" anchor="t"/>
          <a:lstStyle/>
          <a:p>
            <a:pPr marL="342900" indent="-342900">
              <a:spcAft>
                <a:spcPts val="600"/>
              </a:spcAft>
              <a:buSzPct val="100000"/>
              <a:buChar char="•"/>
            </a:pPr>
            <a:r>
              <a:rPr lang="en-US" sz="1500" dirty="0">
                <a:solidFill>
                  <a:srgbClr val="263238"/>
                </a:solidFill>
                <a:latin typeface="Arial" pitchFamily="34" charset="0"/>
                <a:ea typeface="Arial" pitchFamily="34" charset="-122"/>
                <a:cs typeface="Arial" pitchFamily="34" charset="-120"/>
              </a:rPr>
              <a:t>Studies comparing architectures on HAM10000 also vary the split, augmentation, optimiser, batch size and epoch budget</a:t>
            </a:r>
            <a:endParaRPr lang="en-US" sz="1500" dirty="0"/>
          </a:p>
          <a:p>
            <a:pPr lvl="1" marL="381000" indent="-190500">
              <a:spcAft>
                <a:spcPts val="600"/>
              </a:spcAft>
              <a:buSzPct val="100000"/>
              <a:buChar char="–"/>
            </a:pPr>
            <a:r>
              <a:rPr lang="en-US" sz="1400" dirty="0">
                <a:solidFill>
                  <a:srgbClr val="455A64"/>
                </a:solidFill>
                <a:latin typeface="Arial" pitchFamily="34" charset="0"/>
                <a:ea typeface="Arial" pitchFamily="34" charset="-122"/>
                <a:cs typeface="Arial" pitchFamily="34" charset="-120"/>
              </a:rPr>
              <a:t>A reported gap between two backbones conflates the backbone with everything else that changed</a:t>
            </a:r>
            <a:endParaRPr lang="en-US" sz="1500" dirty="0"/>
          </a:p>
          <a:p>
            <a:pPr indent="0" marL="0">
              <a:spcAft>
                <a:spcPts val="600"/>
              </a:spcAft>
              <a:buNone/>
            </a:pPr>
            <a:r>
              <a:rPr lang="en-US" sz="700" dirty="0">
                <a:solidFill>
                  <a:srgbClr val="263238"/>
                </a:solidFill>
                <a:latin typeface="Arial" pitchFamily="34" charset="0"/>
                <a:ea typeface="Arial" pitchFamily="34" charset="-122"/>
                <a:cs typeface="Arial" pitchFamily="34" charset="-120"/>
              </a:rPr>
              <a:t> </a:t>
            </a:r>
            <a:endParaRPr lang="en-US" sz="1500" dirty="0"/>
          </a:p>
          <a:p>
            <a:pPr marL="342900" indent="-342900">
              <a:spcAft>
                <a:spcPts val="600"/>
              </a:spcAft>
              <a:buSzPct val="100000"/>
              <a:buChar char="•"/>
            </a:pPr>
            <a:r>
              <a:rPr lang="en-US" sz="1500" dirty="0">
                <a:solidFill>
                  <a:srgbClr val="263238"/>
                </a:solidFill>
                <a:latin typeface="Arial" pitchFamily="34" charset="0"/>
                <a:ea typeface="Arial" pitchFamily="34" charset="-122"/>
                <a:cs typeface="Arial" pitchFamily="34" charset="-120"/>
              </a:rPr>
              <a:t>And headline accuracy is misleading on this dataset:</a:t>
            </a:r>
            <a:endParaRPr lang="en-US" sz="1500" dirty="0"/>
          </a:p>
          <a:p>
            <a:pPr lvl="1" marL="381000" indent="-190500">
              <a:spcAft>
                <a:spcPts val="600"/>
              </a:spcAft>
              <a:buSzPct val="100000"/>
              <a:buChar char="–"/>
            </a:pPr>
            <a:r>
              <a:rPr lang="en-US" sz="1400" dirty="0">
                <a:solidFill>
                  <a:srgbClr val="455A64"/>
                </a:solidFill>
                <a:latin typeface="Arial" pitchFamily="34" charset="0"/>
                <a:ea typeface="Arial" pitchFamily="34" charset="-122"/>
                <a:cs typeface="Arial" pitchFamily="34" charset="-120"/>
              </a:rPr>
              <a:t>HAM10000 is 66.9% benign nevi, so answering "nevus" every time scores 66.9% and finds zero melanomas</a:t>
            </a:r>
            <a:endParaRPr lang="en-US" sz="1500" dirty="0"/>
          </a:p>
          <a:p>
            <a:pPr indent="0" marL="0">
              <a:spcAft>
                <a:spcPts val="600"/>
              </a:spcAft>
              <a:buNone/>
            </a:pPr>
            <a:r>
              <a:rPr lang="en-US" sz="700" dirty="0">
                <a:solidFill>
                  <a:srgbClr val="263238"/>
                </a:solidFill>
                <a:latin typeface="Arial" pitchFamily="34" charset="0"/>
                <a:ea typeface="Arial" pitchFamily="34" charset="-122"/>
                <a:cs typeface="Arial" pitchFamily="34" charset="-120"/>
              </a:rPr>
              <a:t> </a:t>
            </a:r>
            <a:endParaRPr lang="en-US" sz="1500" dirty="0"/>
          </a:p>
          <a:p>
            <a:pPr marL="342900" indent="-342900">
              <a:spcAft>
                <a:spcPts val="600"/>
              </a:spcAft>
              <a:buSzPct val="100000"/>
              <a:buChar char="•"/>
            </a:pPr>
            <a:r>
              <a:rPr lang="en-US" sz="1500" dirty="0">
                <a:solidFill>
                  <a:srgbClr val="263238"/>
                </a:solidFill>
                <a:latin typeface="Arial" pitchFamily="34" charset="0"/>
                <a:ea typeface="Arial" pitchFamily="34" charset="-122"/>
                <a:cs typeface="Arial" pitchFamily="34" charset="-120"/>
              </a:rPr>
              <a:t>That number is not far below much of the published literature</a:t>
            </a:r>
            <a:endParaRPr lang="en-US" sz="1500" dirty="0"/>
          </a:p>
        </p:txBody>
      </p:sp>
      <p:sp>
        <p:nvSpPr>
          <p:cNvPr id="8" name="Shape 5"/>
          <p:cNvSpPr/>
          <p:nvPr/>
        </p:nvSpPr>
        <p:spPr>
          <a:xfrm>
            <a:off x="411480" y="5586984"/>
            <a:ext cx="11338560" cy="676656"/>
          </a:xfrm>
          <a:prstGeom prst="rect">
            <a:avLst/>
          </a:prstGeom>
          <a:solidFill>
            <a:srgbClr val="F5F5F5"/>
          </a:solidFill>
          <a:ln w="12700">
            <a:solidFill>
              <a:srgbClr val="E0E0E0"/>
            </a:solidFill>
            <a:prstDash val="solid"/>
          </a:ln>
        </p:spPr>
      </p:sp>
      <p:sp>
        <p:nvSpPr>
          <p:cNvPr id="9" name="Text 6"/>
          <p:cNvSpPr/>
          <p:nvPr/>
        </p:nvSpPr>
        <p:spPr>
          <a:xfrm>
            <a:off x="594360" y="5586984"/>
            <a:ext cx="10972800" cy="676656"/>
          </a:xfrm>
          <a:prstGeom prst="rect">
            <a:avLst/>
          </a:prstGeom>
          <a:noFill/>
          <a:ln/>
        </p:spPr>
        <p:txBody>
          <a:bodyPr wrap="square" rtlCol="0" anchor="ctr"/>
          <a:lstStyle/>
          <a:p>
            <a:pPr indent="0" marL="0">
              <a:buNone/>
            </a:pPr>
            <a:r>
              <a:rPr lang="en-US" sz="1200" b="1" i="1" dirty="0">
                <a:solidFill>
                  <a:srgbClr val="0D1B2A"/>
                </a:solidFill>
                <a:latin typeface="Arial" pitchFamily="34" charset="0"/>
                <a:ea typeface="Arial" pitchFamily="34" charset="-122"/>
                <a:cs typeface="Arial" pitchFamily="34" charset="-120"/>
              </a:rPr>
              <a:t>The response: </a:t>
            </a:r>
            <a:pPr indent="0" marL="0">
              <a:buNone/>
            </a:pPr>
            <a:r>
              <a:rPr lang="en-US" sz="1200" i="1" dirty="0">
                <a:solidFill>
                  <a:srgbClr val="0D1B2A"/>
                </a:solidFill>
                <a:latin typeface="Arial" pitchFamily="34" charset="0"/>
                <a:ea typeface="Arial" pitchFamily="34" charset="-122"/>
                <a:cs typeface="Arial" pitchFamily="34" charset="-120"/>
              </a:rPr>
              <a:t>Both problems have the same fix: run every comparison inside one pipeline, and report per class rather than in aggregate. That is what this thesis does.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2743200"/>
            <a:ext cx="109728" cy="1188720"/>
          </a:xfrm>
          <a:prstGeom prst="rect">
            <a:avLst/>
          </a:prstGeom>
          <a:solidFill>
            <a:srgbClr val="D54407"/>
          </a:solidFill>
          <a:ln w="12700">
            <a:solidFill>
              <a:srgbClr val="D54407"/>
            </a:solidFill>
            <a:prstDash val="solid"/>
          </a:ln>
        </p:spPr>
      </p:sp>
      <p:sp>
        <p:nvSpPr>
          <p:cNvPr id="3" name="Text 1"/>
          <p:cNvSpPr/>
          <p:nvPr/>
        </p:nvSpPr>
        <p:spPr>
          <a:xfrm>
            <a:off x="457200" y="2743200"/>
            <a:ext cx="10515600" cy="82296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Design</a:t>
            </a:r>
            <a:endParaRPr lang="en-US" sz="3400" dirty="0"/>
          </a:p>
        </p:txBody>
      </p:sp>
      <p:sp>
        <p:nvSpPr>
          <p:cNvPr id="4" name="Text 2"/>
          <p:cNvSpPr/>
          <p:nvPr/>
        </p:nvSpPr>
        <p:spPr>
          <a:xfrm>
            <a:off x="457200" y="3520440"/>
            <a:ext cx="10515600" cy="457200"/>
          </a:xfrm>
          <a:prstGeom prst="rect">
            <a:avLst/>
          </a:prstGeom>
          <a:noFill/>
          <a:ln/>
        </p:spPr>
        <p:txBody>
          <a:bodyPr wrap="square" rtlCol="0" anchor="ctr"/>
          <a:lstStyle/>
          <a:p>
            <a:pPr indent="0" marL="0">
              <a:buNone/>
            </a:pPr>
            <a:r>
              <a:rPr lang="en-US" sz="1500" dirty="0">
                <a:solidFill>
                  <a:srgbClr val="90A4AE"/>
                </a:solidFill>
                <a:latin typeface="Arial" pitchFamily="34" charset="0"/>
                <a:ea typeface="Arial" pitchFamily="34" charset="-122"/>
                <a:cs typeface="Arial" pitchFamily="34" charset="-120"/>
              </a:rPr>
              <a:t>Twelve runs, two things allowed to vary</a:t>
            </a:r>
            <a:endParaRPr lang="en-US" sz="1500" dirty="0"/>
          </a:p>
        </p:txBody>
      </p:sp>
      <p:sp>
        <p:nvSpPr>
          <p:cNvPr id="5"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6/27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D1B2A"/>
          </a:solidFill>
          <a:ln w="12700">
            <a:solidFill>
              <a:srgbClr val="0D1B2A"/>
            </a:solidFill>
            <a:prstDash val="solid"/>
          </a:ln>
        </p:spPr>
      </p:sp>
      <p:sp>
        <p:nvSpPr>
          <p:cNvPr id="3" name="Text 1"/>
          <p:cNvSpPr/>
          <p:nvPr/>
        </p:nvSpPr>
        <p:spPr>
          <a:xfrm>
            <a:off x="320040" y="54864"/>
            <a:ext cx="9875520" cy="219456"/>
          </a:xfrm>
          <a:prstGeom prst="rect">
            <a:avLst/>
          </a:prstGeom>
          <a:noFill/>
          <a:ln/>
        </p:spPr>
        <p:txBody>
          <a:bodyPr wrap="square" rtlCol="0" anchor="ctr"/>
          <a:lstStyle/>
          <a:p>
            <a:pPr indent="0" marL="0">
              <a:buNone/>
            </a:pPr>
            <a:r>
              <a:rPr lang="en-US" sz="1000" b="1" spc="100" kern="0" dirty="0">
                <a:solidFill>
                  <a:srgbClr val="D54407"/>
                </a:solidFill>
                <a:latin typeface="Arial" pitchFamily="34" charset="0"/>
                <a:ea typeface="Arial" pitchFamily="34" charset="-122"/>
                <a:cs typeface="Arial" pitchFamily="34" charset="-120"/>
              </a:rPr>
              <a:t>DESIGN</a:t>
            </a:r>
            <a:endParaRPr lang="en-US" sz="1000" dirty="0"/>
          </a:p>
        </p:txBody>
      </p:sp>
      <p:sp>
        <p:nvSpPr>
          <p:cNvPr id="4" name="Text 2"/>
          <p:cNvSpPr/>
          <p:nvPr/>
        </p:nvSpPr>
        <p:spPr>
          <a:xfrm>
            <a:off x="320040" y="256032"/>
            <a:ext cx="9875520" cy="384048"/>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The 12-Run Factorial</a:t>
            </a:r>
            <a:endParaRPr lang="en-US" sz="2100" dirty="0"/>
          </a:p>
        </p:txBody>
      </p:sp>
      <p:pic>
        <p:nvPicPr>
          <p:cNvPr id="5" name="Image 0" descr="/Users/rajakarthikchirumamilla/Desktop/ham10000-cnn-comparison/presentation/logo.png">    </p:cNvPr>
          <p:cNvPicPr>
            <a:picLocks noChangeAspect="1"/>
          </p:cNvPicPr>
          <p:nvPr/>
        </p:nvPicPr>
        <p:blipFill>
          <a:blip r:embed="rId1"/>
          <a:stretch>
            <a:fillRect/>
          </a:stretch>
        </p:blipFill>
        <p:spPr>
          <a:xfrm>
            <a:off x="11109960" y="73152"/>
            <a:ext cx="914400" cy="502920"/>
          </a:xfrm>
          <a:prstGeom prst="rect">
            <a:avLst/>
          </a:prstGeom>
        </p:spPr>
      </p:pic>
      <p:sp>
        <p:nvSpPr>
          <p:cNvPr id="6"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7/27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188720" y="1188720"/>
          <a:ext cx="9784080" cy="914400"/>
        </p:xfrm>
        <a:graphic>
          <a:graphicData uri="http://schemas.openxmlformats.org/drawingml/2006/table">
            <a:tbl>
              <a:tblPr/>
              <a:tblGrid>
                <a:gridCol w="3200400"/>
                <a:gridCol w="2194560"/>
                <a:gridCol w="2194560"/>
                <a:gridCol w="2194560"/>
              </a:tblGrid>
              <a:tr h="411480">
                <a:tc>
                  <a:txBody>
                    <a:bodyPr/>
                    <a:lstStyle/>
                    <a:p>
                      <a:pPr algn="ctr" indent="0" marL="0">
                        <a:buNone/>
                      </a:pP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Augmentation only</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Weighted CE</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Oversampling</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r>
              <a:tr h="411480">
                <a:tc>
                  <a:txBody>
                    <a:bodyPr/>
                    <a:lstStyle/>
                    <a:p>
                      <a:pPr algn="l" indent="0" marL="0">
                        <a:buNone/>
                      </a:pPr>
                      <a:r>
                        <a:rPr lang="en-US" sz="1300" b="1" dirty="0">
                          <a:solidFill>
                            <a:srgbClr val="263238"/>
                          </a:solidFill>
                          <a:latin typeface="Arial" pitchFamily="34" charset="0"/>
                          <a:ea typeface="Arial" pitchFamily="34" charset="-122"/>
                          <a:cs typeface="Arial" pitchFamily="34" charset="-120"/>
                        </a:rPr>
                        <a:t>MobileNetV2 @224</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238"/>
                          </a:solidFill>
                          <a:latin typeface="Arial" pitchFamily="34" charset="0"/>
                          <a:ea typeface="Arial" pitchFamily="34" charset="-122"/>
                          <a:cs typeface="Arial" pitchFamily="34" charset="-120"/>
                        </a:rPr>
                        <a:t>E1</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238"/>
                          </a:solidFill>
                          <a:latin typeface="Arial" pitchFamily="34" charset="0"/>
                          <a:ea typeface="Arial" pitchFamily="34" charset="-122"/>
                          <a:cs typeface="Arial" pitchFamily="34" charset="-120"/>
                        </a:rPr>
                        <a:t>E3</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238"/>
                          </a:solidFill>
                          <a:latin typeface="Arial" pitchFamily="34" charset="0"/>
                          <a:ea typeface="Arial" pitchFamily="34" charset="-122"/>
                          <a:cs typeface="Arial" pitchFamily="34" charset="-120"/>
                        </a:rPr>
                        <a:t>E5</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11480">
                <a:tc>
                  <a:txBody>
                    <a:bodyPr/>
                    <a:lstStyle/>
                    <a:p>
                      <a:pPr algn="l" indent="0" marL="0">
                        <a:buNone/>
                      </a:pPr>
                      <a:r>
                        <a:rPr lang="en-US" sz="1300" b="1" dirty="0">
                          <a:solidFill>
                            <a:srgbClr val="263238"/>
                          </a:solidFill>
                          <a:latin typeface="Arial" pitchFamily="34" charset="0"/>
                          <a:ea typeface="Arial" pitchFamily="34" charset="-122"/>
                          <a:cs typeface="Arial" pitchFamily="34" charset="-120"/>
                        </a:rPr>
                        <a:t>ResNet-50 @224</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300" dirty="0">
                          <a:solidFill>
                            <a:srgbClr val="263238"/>
                          </a:solidFill>
                          <a:latin typeface="Arial" pitchFamily="34" charset="0"/>
                          <a:ea typeface="Arial" pitchFamily="34" charset="-122"/>
                          <a:cs typeface="Arial" pitchFamily="34" charset="-120"/>
                        </a:rPr>
                        <a:t>E2</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300" dirty="0">
                          <a:solidFill>
                            <a:srgbClr val="263238"/>
                          </a:solidFill>
                          <a:latin typeface="Arial" pitchFamily="34" charset="0"/>
                          <a:ea typeface="Arial" pitchFamily="34" charset="-122"/>
                          <a:cs typeface="Arial" pitchFamily="34" charset="-120"/>
                        </a:rPr>
                        <a:t>E4</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300" dirty="0">
                          <a:solidFill>
                            <a:srgbClr val="263238"/>
                          </a:solidFill>
                          <a:latin typeface="Arial" pitchFamily="34" charset="0"/>
                          <a:ea typeface="Arial" pitchFamily="34" charset="-122"/>
                          <a:cs typeface="Arial" pitchFamily="34" charset="-120"/>
                        </a:rPr>
                        <a:t>E6</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411480">
                <a:tc>
                  <a:txBody>
                    <a:bodyPr/>
                    <a:lstStyle/>
                    <a:p>
                      <a:pPr algn="l" indent="0" marL="0">
                        <a:buNone/>
                      </a:pPr>
                      <a:r>
                        <a:rPr lang="en-US" sz="1300" b="1" dirty="0">
                          <a:solidFill>
                            <a:srgbClr val="263238"/>
                          </a:solidFill>
                          <a:latin typeface="Arial" pitchFamily="34" charset="0"/>
                          <a:ea typeface="Arial" pitchFamily="34" charset="-122"/>
                          <a:cs typeface="Arial" pitchFamily="34" charset="-120"/>
                        </a:rPr>
                        <a:t>EfficientNet-B3 @224</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238"/>
                          </a:solidFill>
                          <a:latin typeface="Arial" pitchFamily="34" charset="0"/>
                          <a:ea typeface="Arial" pitchFamily="34" charset="-122"/>
                          <a:cs typeface="Arial" pitchFamily="34" charset="-120"/>
                        </a:rPr>
                        <a:t>E7</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238"/>
                          </a:solidFill>
                          <a:latin typeface="Arial" pitchFamily="34" charset="0"/>
                          <a:ea typeface="Arial" pitchFamily="34" charset="-122"/>
                          <a:cs typeface="Arial" pitchFamily="34" charset="-120"/>
                        </a:rPr>
                        <a:t>E8</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238"/>
                          </a:solidFill>
                          <a:latin typeface="Arial" pitchFamily="34" charset="0"/>
                          <a:ea typeface="Arial" pitchFamily="34" charset="-122"/>
                          <a:cs typeface="Arial" pitchFamily="34" charset="-120"/>
                        </a:rPr>
                        <a:t>E9</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11480">
                <a:tc>
                  <a:txBody>
                    <a:bodyPr/>
                    <a:lstStyle/>
                    <a:p>
                      <a:pPr algn="l" indent="0" marL="0">
                        <a:buNone/>
                      </a:pPr>
                      <a:r>
                        <a:rPr lang="en-US" sz="1300" b="1" dirty="0">
                          <a:solidFill>
                            <a:srgbClr val="263238"/>
                          </a:solidFill>
                          <a:latin typeface="Arial" pitchFamily="34" charset="0"/>
                          <a:ea typeface="Arial" pitchFamily="34" charset="-122"/>
                          <a:cs typeface="Arial" pitchFamily="34" charset="-120"/>
                        </a:rPr>
                        <a:t>EfficientNet-B3 @300</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300" dirty="0">
                          <a:solidFill>
                            <a:srgbClr val="263238"/>
                          </a:solidFill>
                          <a:latin typeface="Arial" pitchFamily="34" charset="0"/>
                          <a:ea typeface="Arial" pitchFamily="34" charset="-122"/>
                          <a:cs typeface="Arial" pitchFamily="34" charset="-120"/>
                        </a:rPr>
                        <a:t>E10</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300" dirty="0">
                          <a:solidFill>
                            <a:srgbClr val="263238"/>
                          </a:solidFill>
                          <a:latin typeface="Arial" pitchFamily="34" charset="0"/>
                          <a:ea typeface="Arial" pitchFamily="34" charset="-122"/>
                          <a:cs typeface="Arial" pitchFamily="34" charset="-120"/>
                        </a:rPr>
                        <a:t>E11</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300" dirty="0">
                          <a:solidFill>
                            <a:srgbClr val="263238"/>
                          </a:solidFill>
                          <a:latin typeface="Arial" pitchFamily="34" charset="0"/>
                          <a:ea typeface="Arial" pitchFamily="34" charset="-122"/>
                          <a:cs typeface="Arial" pitchFamily="34" charset="-120"/>
                        </a:rPr>
                        <a:t>E12</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bl>
          </a:graphicData>
        </a:graphic>
      </p:graphicFrame>
      <p:sp>
        <p:nvSpPr>
          <p:cNvPr id="8" name="Text 4"/>
          <p:cNvSpPr/>
          <p:nvPr/>
        </p:nvSpPr>
        <p:spPr>
          <a:xfrm>
            <a:off x="411480" y="3520440"/>
            <a:ext cx="11338560" cy="457200"/>
          </a:xfrm>
          <a:prstGeom prst="rect">
            <a:avLst/>
          </a:prstGeom>
          <a:noFill/>
          <a:ln/>
        </p:spPr>
        <p:txBody>
          <a:bodyPr wrap="square" rtlCol="0" anchor="ctr"/>
          <a:lstStyle/>
          <a:p>
            <a:pPr indent="0" marL="0">
              <a:buNone/>
            </a:pPr>
            <a:r>
              <a:rPr lang="en-US" sz="1300" b="1" dirty="0">
                <a:solidFill>
                  <a:srgbClr val="263238"/>
                </a:solidFill>
                <a:latin typeface="Arial" pitchFamily="34" charset="0"/>
                <a:ea typeface="Arial" pitchFamily="34" charset="-122"/>
                <a:cs typeface="Arial" pitchFamily="34" charset="-120"/>
              </a:rPr>
              <a:t>E1–E6 </a:t>
            </a:r>
            <a:pPr indent="0" marL="0">
              <a:buNone/>
            </a:pPr>
            <a:r>
              <a:rPr lang="en-US" sz="1300" dirty="0">
                <a:solidFill>
                  <a:srgbClr val="263238"/>
                </a:solidFill>
                <a:latin typeface="Arial" pitchFamily="34" charset="0"/>
                <a:ea typeface="Arial" pitchFamily="34" charset="-122"/>
                <a:cs typeface="Arial" pitchFamily="34" charset="-120"/>
              </a:rPr>
              <a:t>are the confirmatory factorial, specified before anything ran.   </a:t>
            </a:r>
            <a:pPr indent="0" marL="0">
              <a:buNone/>
            </a:pPr>
            <a:r>
              <a:rPr lang="en-US" sz="1300" b="1" dirty="0">
                <a:solidFill>
                  <a:srgbClr val="263238"/>
                </a:solidFill>
                <a:latin typeface="Arial" pitchFamily="34" charset="0"/>
                <a:ea typeface="Arial" pitchFamily="34" charset="-122"/>
                <a:cs typeface="Arial" pitchFamily="34" charset="-120"/>
              </a:rPr>
              <a:t>E7–E12 </a:t>
            </a:r>
            <a:pPr indent="0" marL="0">
              <a:buNone/>
            </a:pPr>
            <a:r>
              <a:rPr lang="en-US" sz="1300" dirty="0">
                <a:solidFill>
                  <a:srgbClr val="263238"/>
                </a:solidFill>
                <a:latin typeface="Arial" pitchFamily="34" charset="0"/>
                <a:ea typeface="Arial" pitchFamily="34" charset="-122"/>
                <a:cs typeface="Arial" pitchFamily="34" charset="-120"/>
              </a:rPr>
              <a:t>are an ablation added afterwards, analysed in a separate statistical family.</a:t>
            </a:r>
            <a:endParaRPr lang="en-US" sz="1300" dirty="0"/>
          </a:p>
        </p:txBody>
      </p:sp>
      <p:sp>
        <p:nvSpPr>
          <p:cNvPr id="9" name="Shape 5"/>
          <p:cNvSpPr/>
          <p:nvPr/>
        </p:nvSpPr>
        <p:spPr>
          <a:xfrm>
            <a:off x="411480" y="5586984"/>
            <a:ext cx="11338560" cy="676656"/>
          </a:xfrm>
          <a:prstGeom prst="rect">
            <a:avLst/>
          </a:prstGeom>
          <a:solidFill>
            <a:srgbClr val="F5F5F5"/>
          </a:solidFill>
          <a:ln w="12700">
            <a:solidFill>
              <a:srgbClr val="E0E0E0"/>
            </a:solidFill>
            <a:prstDash val="solid"/>
          </a:ln>
        </p:spPr>
      </p:sp>
      <p:sp>
        <p:nvSpPr>
          <p:cNvPr id="10" name="Text 6"/>
          <p:cNvSpPr/>
          <p:nvPr/>
        </p:nvSpPr>
        <p:spPr>
          <a:xfrm>
            <a:off x="594360" y="5586984"/>
            <a:ext cx="10972800" cy="676656"/>
          </a:xfrm>
          <a:prstGeom prst="rect">
            <a:avLst/>
          </a:prstGeom>
          <a:noFill/>
          <a:ln/>
        </p:spPr>
        <p:txBody>
          <a:bodyPr wrap="square" rtlCol="0" anchor="ctr"/>
          <a:lstStyle/>
          <a:p>
            <a:pPr indent="0" marL="0">
              <a:buNone/>
            </a:pPr>
            <a:r>
              <a:rPr lang="en-US" sz="1200" b="1" i="1" dirty="0">
                <a:solidFill>
                  <a:srgbClr val="0D1B2A"/>
                </a:solidFill>
                <a:latin typeface="Arial" pitchFamily="34" charset="0"/>
                <a:ea typeface="Arial" pitchFamily="34" charset="-122"/>
                <a:cs typeface="Arial" pitchFamily="34" charset="-120"/>
              </a:rPr>
              <a:t>The controlled part: </a:t>
            </a:r>
            <a:pPr indent="0" marL="0">
              <a:buNone/>
            </a:pPr>
            <a:r>
              <a:rPr lang="en-US" sz="1200" i="1" dirty="0">
                <a:solidFill>
                  <a:srgbClr val="0D1B2A"/>
                </a:solidFill>
                <a:latin typeface="Arial" pitchFamily="34" charset="0"/>
                <a:ea typeface="Arial" pitchFamily="34" charset="-122"/>
                <a:cs typeface="Arial" pitchFamily="34" charset="-120"/>
              </a:rPr>
              <a:t>Held identical across all twelve: the lesion-level split (hash f35ac1de18678182), augmentation, Adam at lr 1e-3, batch size 32, 50 epochs with patience 10, 16 dataloader workers, seed 42, and one GPU. Only architecture, imbalance strategy and (for B3) input size vary.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D1B2A"/>
          </a:solidFill>
          <a:ln w="12700">
            <a:solidFill>
              <a:srgbClr val="0D1B2A"/>
            </a:solidFill>
            <a:prstDash val="solid"/>
          </a:ln>
        </p:spPr>
      </p:sp>
      <p:sp>
        <p:nvSpPr>
          <p:cNvPr id="3" name="Text 1"/>
          <p:cNvSpPr/>
          <p:nvPr/>
        </p:nvSpPr>
        <p:spPr>
          <a:xfrm>
            <a:off x="320040" y="54864"/>
            <a:ext cx="9875520" cy="219456"/>
          </a:xfrm>
          <a:prstGeom prst="rect">
            <a:avLst/>
          </a:prstGeom>
          <a:noFill/>
          <a:ln/>
        </p:spPr>
        <p:txBody>
          <a:bodyPr wrap="square" rtlCol="0" anchor="ctr"/>
          <a:lstStyle/>
          <a:p>
            <a:pPr indent="0" marL="0">
              <a:buNone/>
            </a:pPr>
            <a:r>
              <a:rPr lang="en-US" sz="1000" b="1" spc="100" kern="0" dirty="0">
                <a:solidFill>
                  <a:srgbClr val="D54407"/>
                </a:solidFill>
                <a:latin typeface="Arial" pitchFamily="34" charset="0"/>
                <a:ea typeface="Arial" pitchFamily="34" charset="-122"/>
                <a:cs typeface="Arial" pitchFamily="34" charset="-120"/>
              </a:rPr>
              <a:t>DESIGN</a:t>
            </a:r>
            <a:endParaRPr lang="en-US" sz="1000" dirty="0"/>
          </a:p>
        </p:txBody>
      </p:sp>
      <p:sp>
        <p:nvSpPr>
          <p:cNvPr id="4" name="Text 2"/>
          <p:cNvSpPr/>
          <p:nvPr/>
        </p:nvSpPr>
        <p:spPr>
          <a:xfrm>
            <a:off x="320040" y="256032"/>
            <a:ext cx="9875520" cy="384048"/>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The Data and the Split</a:t>
            </a:r>
            <a:endParaRPr lang="en-US" sz="2100" dirty="0"/>
          </a:p>
        </p:txBody>
      </p:sp>
      <p:pic>
        <p:nvPicPr>
          <p:cNvPr id="5" name="Image 0" descr="/Users/rajakarthikchirumamilla/Desktop/ham10000-cnn-comparison/presentation/logo.png">    </p:cNvPr>
          <p:cNvPicPr>
            <a:picLocks noChangeAspect="1"/>
          </p:cNvPicPr>
          <p:nvPr/>
        </p:nvPicPr>
        <p:blipFill>
          <a:blip r:embed="rId1"/>
          <a:stretch>
            <a:fillRect/>
          </a:stretch>
        </p:blipFill>
        <p:spPr>
          <a:xfrm>
            <a:off x="11109960" y="73152"/>
            <a:ext cx="914400" cy="502920"/>
          </a:xfrm>
          <a:prstGeom prst="rect">
            <a:avLst/>
          </a:prstGeom>
        </p:spPr>
      </p:pic>
      <p:sp>
        <p:nvSpPr>
          <p:cNvPr id="6"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8/27</a:t>
            </a:r>
            <a:endParaRPr lang="en-US" sz="1000" dirty="0"/>
          </a:p>
        </p:txBody>
      </p:sp>
      <p:pic>
        <p:nvPicPr>
          <p:cNvPr id="7" name="Image 1" descr="/Users/rajakarthikchirumamilla/Desktop/ham10000-cnn-comparison/figures/01_class_distribution.pdf">    </p:cNvPr>
          <p:cNvPicPr>
            <a:picLocks noChangeAspect="1"/>
          </p:cNvPicPr>
          <p:nvPr/>
        </p:nvPicPr>
        <p:blipFill>
          <a:blip r:embed="rId2"/>
          <a:srcRect l="0" r="0" t="0" b="0"/>
          <a:stretch/>
        </p:blipFill>
        <p:spPr>
          <a:xfrm>
            <a:off x="411480" y="868680"/>
            <a:ext cx="6400800" cy="4023360"/>
          </a:xfrm>
          <a:prstGeom prst="rect">
            <a:avLst/>
          </a:prstGeom>
        </p:spPr>
      </p:pic>
      <p:sp>
        <p:nvSpPr>
          <p:cNvPr id="8" name="Text 4"/>
          <p:cNvSpPr/>
          <p:nvPr/>
        </p:nvSpPr>
        <p:spPr>
          <a:xfrm>
            <a:off x="7040880" y="868680"/>
            <a:ext cx="4754880" cy="4023360"/>
          </a:xfrm>
          <a:prstGeom prst="rect">
            <a:avLst/>
          </a:prstGeom>
          <a:noFill/>
          <a:ln/>
        </p:spPr>
        <p:txBody>
          <a:bodyPr wrap="square" rtlCol="0" anchor="t"/>
          <a:lstStyle/>
          <a:p>
            <a:pPr marL="342900" indent="-342900">
              <a:spcAft>
                <a:spcPts val="600"/>
              </a:spcAft>
              <a:buSzPct val="100000"/>
              <a:buChar char="•"/>
            </a:pPr>
            <a:r>
              <a:rPr lang="en-US" sz="1300" dirty="0">
                <a:solidFill>
                  <a:srgbClr val="263238"/>
                </a:solidFill>
                <a:latin typeface="Arial" pitchFamily="34" charset="0"/>
                <a:ea typeface="Arial" pitchFamily="34" charset="-122"/>
                <a:cs typeface="Arial" pitchFamily="34" charset="-120"/>
              </a:rPr>
              <a:t>10,015 images, 7,470 lesions, 7 classes</a:t>
            </a:r>
            <a:endParaRPr lang="en-US" sz="1300" dirty="0"/>
          </a:p>
          <a:p>
            <a:pPr marL="342900" indent="-342900">
              <a:spcAft>
                <a:spcPts val="600"/>
              </a:spcAft>
              <a:buSzPct val="100000"/>
              <a:buChar char="•"/>
            </a:pPr>
            <a:r>
              <a:rPr lang="en-US" sz="1300" dirty="0">
                <a:solidFill>
                  <a:srgbClr val="263238"/>
                </a:solidFill>
                <a:latin typeface="Arial" pitchFamily="34" charset="0"/>
                <a:ea typeface="Arial" pitchFamily="34" charset="-122"/>
                <a:cs typeface="Arial" pitchFamily="34" charset="-120"/>
              </a:rPr>
              <a:t>8012 / 979 / 1024 train/val/test</a:t>
            </a:r>
            <a:endParaRPr lang="en-US" sz="1300" dirty="0"/>
          </a:p>
          <a:p>
            <a:pPr indent="0" marL="0">
              <a:spcAft>
                <a:spcPts val="600"/>
              </a:spcAft>
              <a:buNone/>
            </a:pPr>
            <a:r>
              <a:rPr lang="en-US" sz="600" dirty="0">
                <a:solidFill>
                  <a:srgbClr val="263238"/>
                </a:solidFill>
                <a:latin typeface="Arial" pitchFamily="34" charset="0"/>
                <a:ea typeface="Arial" pitchFamily="34" charset="-122"/>
                <a:cs typeface="Arial" pitchFamily="34" charset="-120"/>
              </a:rPr>
              <a:t> </a:t>
            </a:r>
            <a:endParaRPr lang="en-US" sz="1300" dirty="0"/>
          </a:p>
          <a:p>
            <a:pPr marL="342900" indent="-342900">
              <a:spcAft>
                <a:spcPts val="600"/>
              </a:spcAft>
              <a:buSzPct val="100000"/>
              <a:buChar char="•"/>
            </a:pPr>
            <a:r>
              <a:rPr lang="en-US" sz="1300" dirty="0">
                <a:solidFill>
                  <a:srgbClr val="263238"/>
                </a:solidFill>
                <a:latin typeface="Arial" pitchFamily="34" charset="0"/>
                <a:ea typeface="Arial" pitchFamily="34" charset="-122"/>
                <a:cs typeface="Arial" pitchFamily="34" charset="-120"/>
              </a:rPr>
              <a:t>Split on lesion_id, not image_id</a:t>
            </a:r>
            <a:endParaRPr lang="en-US" sz="1300" dirty="0"/>
          </a:p>
          <a:p>
            <a:pPr lvl="1" marL="381000" indent="-190500">
              <a:spcAft>
                <a:spcPts val="600"/>
              </a:spcAft>
              <a:buSzPct val="100000"/>
              <a:buChar char="–"/>
            </a:pPr>
            <a:r>
              <a:rPr lang="en-US" sz="1200" dirty="0">
                <a:solidFill>
                  <a:srgbClr val="455A64"/>
                </a:solidFill>
                <a:latin typeface="Arial" pitchFamily="34" charset="0"/>
                <a:ea typeface="Arial" pitchFamily="34" charset="-122"/>
                <a:cs typeface="Arial" pitchFamily="34" charset="-120"/>
              </a:rPr>
              <a:t>1,956 lesions are photographed more than once</a:t>
            </a:r>
            <a:endParaRPr lang="en-US" sz="1300" dirty="0"/>
          </a:p>
          <a:p>
            <a:pPr lvl="1" marL="381000" indent="-190500">
              <a:spcAft>
                <a:spcPts val="600"/>
              </a:spcAft>
              <a:buSzPct val="100000"/>
              <a:buChar char="–"/>
            </a:pPr>
            <a:r>
              <a:rPr lang="en-US" sz="1200" dirty="0">
                <a:solidFill>
                  <a:srgbClr val="455A64"/>
                </a:solidFill>
                <a:latin typeface="Arial" pitchFamily="34" charset="0"/>
                <a:ea typeface="Arial" pitchFamily="34" charset="-122"/>
                <a:cs typeface="Arial" pitchFamily="34" charset="-120"/>
              </a:rPr>
              <a:t>Splitting on images puts near-duplicates on both sides and inflates the result</a:t>
            </a:r>
            <a:endParaRPr lang="en-US" sz="1300" dirty="0"/>
          </a:p>
          <a:p>
            <a:pPr indent="0" marL="0">
              <a:spcAft>
                <a:spcPts val="600"/>
              </a:spcAft>
              <a:buNone/>
            </a:pPr>
            <a:r>
              <a:rPr lang="en-US" sz="600" dirty="0">
                <a:solidFill>
                  <a:srgbClr val="263238"/>
                </a:solidFill>
                <a:latin typeface="Arial" pitchFamily="34" charset="0"/>
                <a:ea typeface="Arial" pitchFamily="34" charset="-122"/>
                <a:cs typeface="Arial" pitchFamily="34" charset="-120"/>
              </a:rPr>
              <a:t> </a:t>
            </a:r>
            <a:endParaRPr lang="en-US" sz="1300" dirty="0"/>
          </a:p>
          <a:p>
            <a:pPr marL="342900" indent="-342900">
              <a:spcAft>
                <a:spcPts val="600"/>
              </a:spcAft>
              <a:buSzPct val="100000"/>
              <a:buChar char="•"/>
            </a:pPr>
            <a:r>
              <a:rPr lang="en-US" sz="1300" dirty="0">
                <a:solidFill>
                  <a:srgbClr val="263238"/>
                </a:solidFill>
                <a:latin typeface="Arial" pitchFamily="34" charset="0"/>
                <a:ea typeface="Arial" pitchFamily="34" charset="-122"/>
                <a:cs typeface="Arial" pitchFamily="34" charset="-120"/>
              </a:rPr>
              <a:t>Imbalance ratio NV:DF = 58.3 : 1</a:t>
            </a:r>
            <a:endParaRPr lang="en-US" sz="1300" dirty="0"/>
          </a:p>
        </p:txBody>
      </p:sp>
      <p:sp>
        <p:nvSpPr>
          <p:cNvPr id="9" name="Shape 5"/>
          <p:cNvSpPr/>
          <p:nvPr/>
        </p:nvSpPr>
        <p:spPr>
          <a:xfrm>
            <a:off x="411480" y="5586984"/>
            <a:ext cx="11338560" cy="676656"/>
          </a:xfrm>
          <a:prstGeom prst="rect">
            <a:avLst/>
          </a:prstGeom>
          <a:solidFill>
            <a:srgbClr val="F5F5F5"/>
          </a:solidFill>
          <a:ln w="12700">
            <a:solidFill>
              <a:srgbClr val="E0E0E0"/>
            </a:solidFill>
            <a:prstDash val="solid"/>
          </a:ln>
        </p:spPr>
      </p:sp>
      <p:sp>
        <p:nvSpPr>
          <p:cNvPr id="10" name="Text 6"/>
          <p:cNvSpPr/>
          <p:nvPr/>
        </p:nvSpPr>
        <p:spPr>
          <a:xfrm>
            <a:off x="594360" y="5586984"/>
            <a:ext cx="10972800" cy="676656"/>
          </a:xfrm>
          <a:prstGeom prst="rect">
            <a:avLst/>
          </a:prstGeom>
          <a:noFill/>
          <a:ln/>
        </p:spPr>
        <p:txBody>
          <a:bodyPr wrap="square" rtlCol="0" anchor="ctr"/>
          <a:lstStyle/>
          <a:p>
            <a:pPr indent="0" marL="0">
              <a:buNone/>
            </a:pPr>
            <a:r>
              <a:rPr lang="en-US" sz="1200" b="1" i="1" dirty="0">
                <a:solidFill>
                  <a:srgbClr val="0D1B2A"/>
                </a:solidFill>
                <a:latin typeface="Arial" pitchFamily="34" charset="0"/>
                <a:ea typeface="Arial" pitchFamily="34" charset="-122"/>
                <a:cs typeface="Arial" pitchFamily="34" charset="-120"/>
              </a:rPr>
              <a:t>Why it matters: </a:t>
            </a:r>
            <a:pPr indent="0" marL="0">
              <a:buNone/>
            </a:pPr>
            <a:r>
              <a:rPr lang="en-US" sz="1200" i="1" dirty="0">
                <a:solidFill>
                  <a:srgbClr val="0D1B2A"/>
                </a:solidFill>
                <a:latin typeface="Arial" pitchFamily="34" charset="0"/>
                <a:ea typeface="Arial" pitchFamily="34" charset="-122"/>
                <a:cs typeface="Arial" pitchFamily="34" charset="-120"/>
              </a:rPr>
              <a:t>Many published HAM10000 studies split at image level or do not say which they used. That is the single largest reason cross-paper accuracy comparison on this dataset is unreliable, and why every comparison here is internal to one pipeline.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2743200"/>
            <a:ext cx="109728" cy="1188720"/>
          </a:xfrm>
          <a:prstGeom prst="rect">
            <a:avLst/>
          </a:prstGeom>
          <a:solidFill>
            <a:srgbClr val="D54407"/>
          </a:solidFill>
          <a:ln w="12700">
            <a:solidFill>
              <a:srgbClr val="D54407"/>
            </a:solidFill>
            <a:prstDash val="solid"/>
          </a:ln>
        </p:spPr>
      </p:sp>
      <p:sp>
        <p:nvSpPr>
          <p:cNvPr id="3" name="Text 1"/>
          <p:cNvSpPr/>
          <p:nvPr/>
        </p:nvSpPr>
        <p:spPr>
          <a:xfrm>
            <a:off x="457200" y="2743200"/>
            <a:ext cx="10515600" cy="82296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Results</a:t>
            </a:r>
            <a:endParaRPr lang="en-US" sz="3400" dirty="0"/>
          </a:p>
        </p:txBody>
      </p:sp>
      <p:sp>
        <p:nvSpPr>
          <p:cNvPr id="4" name="Text 2"/>
          <p:cNvSpPr/>
          <p:nvPr/>
        </p:nvSpPr>
        <p:spPr>
          <a:xfrm>
            <a:off x="457200" y="3520440"/>
            <a:ext cx="10515600" cy="457200"/>
          </a:xfrm>
          <a:prstGeom prst="rect">
            <a:avLst/>
          </a:prstGeom>
          <a:noFill/>
          <a:ln/>
        </p:spPr>
        <p:txBody>
          <a:bodyPr wrap="square" rtlCol="0" anchor="ctr"/>
          <a:lstStyle/>
          <a:p>
            <a:pPr indent="0" marL="0">
              <a:buNone/>
            </a:pPr>
            <a:r>
              <a:rPr lang="en-US" sz="1500" dirty="0">
                <a:solidFill>
                  <a:srgbClr val="90A4AE"/>
                </a:solidFill>
                <a:latin typeface="Arial" pitchFamily="34" charset="0"/>
                <a:ea typeface="Arial" pitchFamily="34" charset="-122"/>
                <a:cs typeface="Arial" pitchFamily="34" charset="-120"/>
              </a:rPr>
              <a:t>RQ1, RQ2, RQ3</a:t>
            </a:r>
            <a:endParaRPr lang="en-US" sz="1500" dirty="0"/>
          </a:p>
        </p:txBody>
      </p:sp>
      <p:sp>
        <p:nvSpPr>
          <p:cNvPr id="5"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9/27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D1B2A"/>
          </a:solidFill>
          <a:ln w="12700">
            <a:solidFill>
              <a:srgbClr val="0D1B2A"/>
            </a:solidFill>
            <a:prstDash val="solid"/>
          </a:ln>
        </p:spPr>
      </p:sp>
      <p:sp>
        <p:nvSpPr>
          <p:cNvPr id="3" name="Text 1"/>
          <p:cNvSpPr/>
          <p:nvPr/>
        </p:nvSpPr>
        <p:spPr>
          <a:xfrm>
            <a:off x="320040" y="54864"/>
            <a:ext cx="9875520" cy="219456"/>
          </a:xfrm>
          <a:prstGeom prst="rect">
            <a:avLst/>
          </a:prstGeom>
          <a:noFill/>
          <a:ln/>
        </p:spPr>
        <p:txBody>
          <a:bodyPr wrap="square" rtlCol="0" anchor="ctr"/>
          <a:lstStyle/>
          <a:p>
            <a:pPr indent="0" marL="0">
              <a:buNone/>
            </a:pPr>
            <a:r>
              <a:rPr lang="en-US" sz="1000" b="1" spc="100" kern="0" dirty="0">
                <a:solidFill>
                  <a:srgbClr val="D54407"/>
                </a:solidFill>
                <a:latin typeface="Arial" pitchFamily="34" charset="0"/>
                <a:ea typeface="Arial" pitchFamily="34" charset="-122"/>
                <a:cs typeface="Arial" pitchFamily="34" charset="-120"/>
              </a:rPr>
              <a:t>RESULTS</a:t>
            </a:r>
            <a:endParaRPr lang="en-US" sz="1000" dirty="0"/>
          </a:p>
        </p:txBody>
      </p:sp>
      <p:sp>
        <p:nvSpPr>
          <p:cNvPr id="4" name="Text 2"/>
          <p:cNvSpPr/>
          <p:nvPr/>
        </p:nvSpPr>
        <p:spPr>
          <a:xfrm>
            <a:off x="320040" y="256032"/>
            <a:ext cx="9875520" cy="384048"/>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Headline: The Small Model Is Never Beaten</a:t>
            </a:r>
            <a:endParaRPr lang="en-US" sz="2100" dirty="0"/>
          </a:p>
        </p:txBody>
      </p:sp>
      <p:pic>
        <p:nvPicPr>
          <p:cNvPr id="5" name="Image 0" descr="/Users/rajakarthikchirumamilla/Desktop/ham10000-cnn-comparison/presentation/logo.png">    </p:cNvPr>
          <p:cNvPicPr>
            <a:picLocks noChangeAspect="1"/>
          </p:cNvPicPr>
          <p:nvPr/>
        </p:nvPicPr>
        <p:blipFill>
          <a:blip r:embed="rId1"/>
          <a:stretch>
            <a:fillRect/>
          </a:stretch>
        </p:blipFill>
        <p:spPr>
          <a:xfrm>
            <a:off x="11109960" y="73152"/>
            <a:ext cx="914400" cy="502920"/>
          </a:xfrm>
          <a:prstGeom prst="rect">
            <a:avLst/>
          </a:prstGeom>
        </p:spPr>
      </p:pic>
      <p:sp>
        <p:nvSpPr>
          <p:cNvPr id="6"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10/27</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051560"/>
          <a:ext cx="11155680" cy="914400"/>
        </p:xfrm>
        <a:graphic>
          <a:graphicData uri="http://schemas.openxmlformats.org/drawingml/2006/table">
            <a:tbl>
              <a:tblPr/>
              <a:tblGrid>
                <a:gridCol w="2011680"/>
                <a:gridCol w="1527048"/>
                <a:gridCol w="1527048"/>
                <a:gridCol w="1527048"/>
                <a:gridCol w="1527048"/>
                <a:gridCol w="1527048"/>
                <a:gridCol w="1527048"/>
              </a:tblGrid>
              <a:tr h="384048">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Metric</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E1 MNv2</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E2 RN50</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E3 MNv2</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E4 RN50</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E5 MNv2</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E6 RN50</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r>
              <a:tr h="384048">
                <a:tc>
                  <a:txBody>
                    <a:bodyPr/>
                    <a:lstStyle/>
                    <a:p>
                      <a:pPr algn="l" indent="0" marL="0">
                        <a:buNone/>
                      </a:pPr>
                      <a:r>
                        <a:rPr lang="en-US" sz="1100" b="1" dirty="0">
                          <a:solidFill>
                            <a:srgbClr val="263238"/>
                          </a:solidFill>
                          <a:latin typeface="Arial" pitchFamily="34" charset="0"/>
                          <a:ea typeface="Arial" pitchFamily="34" charset="-122"/>
                          <a:cs typeface="Arial" pitchFamily="34" charset="-120"/>
                        </a:rPr>
                        <a:t>Macro F1</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0.664</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0.628</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0.622</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0.483</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0.681</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0.527</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263238"/>
                          </a:solidFill>
                          <a:latin typeface="Arial" pitchFamily="34" charset="0"/>
                          <a:ea typeface="Arial" pitchFamily="34" charset="-122"/>
                          <a:cs typeface="Arial" pitchFamily="34" charset="-120"/>
                        </a:rPr>
                        <a:t>Balanced acc.</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67.1%</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59.2%</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74.4%</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55.7%</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71.2%</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65.6%</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384048">
                <a:tc>
                  <a:txBody>
                    <a:bodyPr/>
                    <a:lstStyle/>
                    <a:p>
                      <a:pPr algn="l" indent="0" marL="0">
                        <a:buNone/>
                      </a:pPr>
                      <a:r>
                        <a:rPr lang="en-US" sz="1100" b="1" dirty="0">
                          <a:solidFill>
                            <a:srgbClr val="263238"/>
                          </a:solidFill>
                          <a:latin typeface="Arial" pitchFamily="34" charset="0"/>
                          <a:ea typeface="Arial" pitchFamily="34" charset="-122"/>
                          <a:cs typeface="Arial" pitchFamily="34" charset="-120"/>
                        </a:rPr>
                        <a:t>Accuracy</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80.1%</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79.7%</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71.1%</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69.9%</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79.5%</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72.5%</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263238"/>
                          </a:solidFill>
                          <a:latin typeface="Arial" pitchFamily="34" charset="0"/>
                          <a:ea typeface="Arial" pitchFamily="34" charset="-122"/>
                          <a:cs typeface="Arial" pitchFamily="34" charset="-120"/>
                        </a:rPr>
                        <a:t>F1 melanoma</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0.473</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0.480</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0.442</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0.450</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0.506</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0.254</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384048">
                <a:tc>
                  <a:txBody>
                    <a:bodyPr/>
                    <a:lstStyle/>
                    <a:p>
                      <a:pPr algn="l" indent="0" marL="0">
                        <a:buNone/>
                      </a:pPr>
                      <a:r>
                        <a:rPr lang="en-US" sz="1100" b="1" dirty="0">
                          <a:solidFill>
                            <a:srgbClr val="263238"/>
                          </a:solidFill>
                          <a:latin typeface="Arial" pitchFamily="34" charset="0"/>
                          <a:ea typeface="Arial" pitchFamily="34" charset="-122"/>
                          <a:cs typeface="Arial" pitchFamily="34" charset="-120"/>
                        </a:rPr>
                        <a:t>Epochs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38</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46</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34</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50</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30</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16</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8" name="Shape 4"/>
          <p:cNvSpPr/>
          <p:nvPr/>
        </p:nvSpPr>
        <p:spPr>
          <a:xfrm>
            <a:off x="411480" y="5586984"/>
            <a:ext cx="11338560" cy="676656"/>
          </a:xfrm>
          <a:prstGeom prst="rect">
            <a:avLst/>
          </a:prstGeom>
          <a:solidFill>
            <a:srgbClr val="F5F5F5"/>
          </a:solidFill>
          <a:ln w="12700">
            <a:solidFill>
              <a:srgbClr val="E0E0E0"/>
            </a:solidFill>
            <a:prstDash val="solid"/>
          </a:ln>
        </p:spPr>
      </p:sp>
      <p:sp>
        <p:nvSpPr>
          <p:cNvPr id="9" name="Text 5"/>
          <p:cNvSpPr/>
          <p:nvPr/>
        </p:nvSpPr>
        <p:spPr>
          <a:xfrm>
            <a:off x="594360" y="5586984"/>
            <a:ext cx="10972800" cy="676656"/>
          </a:xfrm>
          <a:prstGeom prst="rect">
            <a:avLst/>
          </a:prstGeom>
          <a:noFill/>
          <a:ln/>
        </p:spPr>
        <p:txBody>
          <a:bodyPr wrap="square" rtlCol="0" anchor="ctr"/>
          <a:lstStyle/>
          <a:p>
            <a:pPr indent="0" marL="0">
              <a:buNone/>
            </a:pPr>
            <a:r>
              <a:rPr lang="en-US" sz="1200" b="1" i="1" dirty="0">
                <a:solidFill>
                  <a:srgbClr val="0D1B2A"/>
                </a:solidFill>
                <a:latin typeface="Arial" pitchFamily="34" charset="0"/>
                <a:ea typeface="Arial" pitchFamily="34" charset="-122"/>
                <a:cs typeface="Arial" pitchFamily="34" charset="-120"/>
              </a:rPr>
              <a:t>What this shows: </a:t>
            </a:r>
            <a:pPr indent="0" marL="0">
              <a:buNone/>
            </a:pPr>
            <a:r>
              <a:rPr lang="en-US" sz="1200" i="1" dirty="0">
                <a:solidFill>
                  <a:srgbClr val="0D1B2A"/>
                </a:solidFill>
                <a:latin typeface="Arial" pitchFamily="34" charset="0"/>
                <a:ea typeface="Arial" pitchFamily="34" charset="-122"/>
                <a:cs typeface="Arial" pitchFamily="34" charset="-120"/>
              </a:rPr>
              <a:t>MobileNetV2 achieves higher macro F1 than ResNet-50 under all three strategies: 0.664 vs 0.628, 0.622 vs 0.483, 0.681 vs 0.527. Note also that E1 and E2 sit within 0.004 on accuracy while differing by 0.037 on macro F1 — which is exactly why accuracy is not used to decide anything here.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D1B2A"/>
          </a:solidFill>
          <a:ln w="12700">
            <a:solidFill>
              <a:srgbClr val="0D1B2A"/>
            </a:solidFill>
            <a:prstDash val="solid"/>
          </a:ln>
        </p:spPr>
      </p:sp>
      <p:sp>
        <p:nvSpPr>
          <p:cNvPr id="3" name="Text 1"/>
          <p:cNvSpPr/>
          <p:nvPr/>
        </p:nvSpPr>
        <p:spPr>
          <a:xfrm>
            <a:off x="320040" y="54864"/>
            <a:ext cx="9875520" cy="219456"/>
          </a:xfrm>
          <a:prstGeom prst="rect">
            <a:avLst/>
          </a:prstGeom>
          <a:noFill/>
          <a:ln/>
        </p:spPr>
        <p:txBody>
          <a:bodyPr wrap="square" rtlCol="0" anchor="ctr"/>
          <a:lstStyle/>
          <a:p>
            <a:pPr indent="0" marL="0">
              <a:buNone/>
            </a:pPr>
            <a:r>
              <a:rPr lang="en-US" sz="1000" b="1" spc="100" kern="0" dirty="0">
                <a:solidFill>
                  <a:srgbClr val="D54407"/>
                </a:solidFill>
                <a:latin typeface="Arial" pitchFamily="34" charset="0"/>
                <a:ea typeface="Arial" pitchFamily="34" charset="-122"/>
                <a:cs typeface="Arial" pitchFamily="34" charset="-120"/>
              </a:rPr>
              <a:t>RESULTS</a:t>
            </a:r>
            <a:endParaRPr lang="en-US" sz="1000" dirty="0"/>
          </a:p>
        </p:txBody>
      </p:sp>
      <p:sp>
        <p:nvSpPr>
          <p:cNvPr id="4" name="Text 2"/>
          <p:cNvSpPr/>
          <p:nvPr/>
        </p:nvSpPr>
        <p:spPr>
          <a:xfrm>
            <a:off x="320040" y="256032"/>
            <a:ext cx="9875520" cy="384048"/>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RQ1 — The Deployability Gap: PASSES</a:t>
            </a:r>
            <a:endParaRPr lang="en-US" sz="2100" dirty="0"/>
          </a:p>
        </p:txBody>
      </p:sp>
      <p:pic>
        <p:nvPicPr>
          <p:cNvPr id="5" name="Image 0" descr="/Users/rajakarthikchirumamilla/Desktop/ham10000-cnn-comparison/presentation/logo.png">    </p:cNvPr>
          <p:cNvPicPr>
            <a:picLocks noChangeAspect="1"/>
          </p:cNvPicPr>
          <p:nvPr/>
        </p:nvPicPr>
        <p:blipFill>
          <a:blip r:embed="rId1"/>
          <a:stretch>
            <a:fillRect/>
          </a:stretch>
        </p:blipFill>
        <p:spPr>
          <a:xfrm>
            <a:off x="11109960" y="73152"/>
            <a:ext cx="914400" cy="502920"/>
          </a:xfrm>
          <a:prstGeom prst="rect">
            <a:avLst/>
          </a:prstGeom>
        </p:spPr>
      </p:pic>
      <p:sp>
        <p:nvSpPr>
          <p:cNvPr id="6"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11/27</a:t>
            </a:r>
            <a:endParaRPr lang="en-US" sz="1000" dirty="0"/>
          </a:p>
        </p:txBody>
      </p:sp>
      <p:sp>
        <p:nvSpPr>
          <p:cNvPr id="7" name="Text 4"/>
          <p:cNvSpPr/>
          <p:nvPr/>
        </p:nvSpPr>
        <p:spPr>
          <a:xfrm>
            <a:off x="411480" y="868680"/>
            <a:ext cx="11338560" cy="2743200"/>
          </a:xfrm>
          <a:prstGeom prst="rect">
            <a:avLst/>
          </a:prstGeom>
          <a:noFill/>
          <a:ln/>
        </p:spPr>
        <p:txBody>
          <a:bodyPr wrap="square" rtlCol="0" anchor="t"/>
          <a:lstStyle/>
          <a:p>
            <a:pPr marL="342900" indent="-342900">
              <a:spcAft>
                <a:spcPts val="600"/>
              </a:spcAft>
              <a:buSzPct val="100000"/>
              <a:buChar char="•"/>
            </a:pPr>
            <a:r>
              <a:rPr lang="en-US" sz="1600" dirty="0">
                <a:solidFill>
                  <a:srgbClr val="263238"/>
                </a:solidFill>
                <a:latin typeface="Arial" pitchFamily="34" charset="0"/>
                <a:ea typeface="Arial" pitchFamily="34" charset="-122"/>
                <a:cs typeface="Arial" pitchFamily="34" charset="-120"/>
              </a:rPr>
              <a:t>Best MobileNetV2 by the RQ2 rule: E3   ·   Best ResNet-50: E2</a:t>
            </a:r>
            <a:endParaRPr lang="en-US" sz="1600" dirty="0"/>
          </a:p>
          <a:p>
            <a:pPr indent="0" marL="0">
              <a:spcAft>
                <a:spcPts val="600"/>
              </a:spcAft>
              <a:buNone/>
            </a:pPr>
            <a:r>
              <a:rPr lang="en-US" sz="700" dirty="0">
                <a:solidFill>
                  <a:srgbClr val="263238"/>
                </a:solidFill>
                <a:latin typeface="Arial" pitchFamily="34" charset="0"/>
                <a:ea typeface="Arial" pitchFamily="34" charset="-122"/>
                <a:cs typeface="Arial" pitchFamily="34" charset="-120"/>
              </a:rPr>
              <a:t> </a:t>
            </a:r>
            <a:endParaRPr lang="en-US" sz="1600" dirty="0"/>
          </a:p>
          <a:p>
            <a:pPr marL="342900" indent="-342900">
              <a:spcAft>
                <a:spcPts val="600"/>
              </a:spcAft>
              <a:buSzPct val="100000"/>
              <a:buChar char="•"/>
            </a:pPr>
            <a:r>
              <a:rPr lang="en-US" sz="1600" dirty="0">
                <a:solidFill>
                  <a:srgbClr val="263238"/>
                </a:solidFill>
                <a:latin typeface="Arial" pitchFamily="34" charset="0"/>
                <a:ea typeface="Arial" pitchFamily="34" charset="-122"/>
                <a:cs typeface="Arial" pitchFamily="34" charset="-120"/>
              </a:rPr>
              <a:t>F1 melanoma:  0.442  vs  0.480</a:t>
            </a:r>
            <a:endParaRPr lang="en-US" sz="1600" dirty="0"/>
          </a:p>
          <a:p>
            <a:pPr marL="342900" indent="-342900">
              <a:spcAft>
                <a:spcPts val="600"/>
              </a:spcAft>
              <a:buSzPct val="100000"/>
              <a:buChar char="•"/>
            </a:pPr>
            <a:r>
              <a:rPr lang="en-US" sz="1600" dirty="0">
                <a:solidFill>
                  <a:srgbClr val="263238"/>
                </a:solidFill>
                <a:latin typeface="Arial" pitchFamily="34" charset="0"/>
                <a:ea typeface="Arial" pitchFamily="34" charset="-122"/>
                <a:cs typeface="Arial" pitchFamily="34" charset="-120"/>
              </a:rPr>
              <a:t>Gap = 0.037   against a threshold of 0.05 fixed before any run</a:t>
            </a:r>
            <a:endParaRPr lang="en-US" sz="1600" dirty="0"/>
          </a:p>
          <a:p>
            <a:pPr indent="0" marL="0">
              <a:spcAft>
                <a:spcPts val="600"/>
              </a:spcAft>
              <a:buNone/>
            </a:pPr>
            <a:r>
              <a:rPr lang="en-US" sz="700" dirty="0">
                <a:solidFill>
                  <a:srgbClr val="263238"/>
                </a:solidFill>
                <a:latin typeface="Arial" pitchFamily="34" charset="0"/>
                <a:ea typeface="Arial" pitchFamily="34" charset="-122"/>
                <a:cs typeface="Arial" pitchFamily="34" charset="-120"/>
              </a:rPr>
              <a:t> </a:t>
            </a:r>
            <a:endParaRPr lang="en-US" sz="1600" dirty="0"/>
          </a:p>
          <a:p>
            <a:pPr marL="342900" indent="-342900">
              <a:spcAft>
                <a:spcPts val="600"/>
              </a:spcAft>
              <a:buSzPct val="100000"/>
              <a:buChar char="•"/>
            </a:pPr>
            <a:r>
              <a:rPr lang="en-US" sz="1600" dirty="0">
                <a:solidFill>
                  <a:srgbClr val="263238"/>
                </a:solidFill>
                <a:latin typeface="Arial" pitchFamily="34" charset="0"/>
                <a:ea typeface="Arial" pitchFamily="34" charset="-122"/>
                <a:cs typeface="Arial" pitchFamily="34" charset="-120"/>
              </a:rPr>
              <a:t>Under the alternative definition of "best" (highest macro F1): gap 0.027, and the direction reverses</a:t>
            </a:r>
            <a:endParaRPr lang="en-US" sz="1600" dirty="0"/>
          </a:p>
        </p:txBody>
      </p:sp>
      <p:sp>
        <p:nvSpPr>
          <p:cNvPr id="8" name="Shape 5"/>
          <p:cNvSpPr/>
          <p:nvPr/>
        </p:nvSpPr>
        <p:spPr>
          <a:xfrm>
            <a:off x="411480" y="5586984"/>
            <a:ext cx="11338560" cy="676656"/>
          </a:xfrm>
          <a:prstGeom prst="rect">
            <a:avLst/>
          </a:prstGeom>
          <a:solidFill>
            <a:srgbClr val="F5F5F5"/>
          </a:solidFill>
          <a:ln w="12700">
            <a:solidFill>
              <a:srgbClr val="E0E0E0"/>
            </a:solidFill>
            <a:prstDash val="solid"/>
          </a:ln>
        </p:spPr>
      </p:sp>
      <p:sp>
        <p:nvSpPr>
          <p:cNvPr id="9" name="Text 6"/>
          <p:cNvSpPr/>
          <p:nvPr/>
        </p:nvSpPr>
        <p:spPr>
          <a:xfrm>
            <a:off x="594360" y="5586984"/>
            <a:ext cx="10972800" cy="676656"/>
          </a:xfrm>
          <a:prstGeom prst="rect">
            <a:avLst/>
          </a:prstGeom>
          <a:noFill/>
          <a:ln/>
        </p:spPr>
        <p:txBody>
          <a:bodyPr wrap="square" rtlCol="0" anchor="ctr"/>
          <a:lstStyle/>
          <a:p>
            <a:pPr indent="0" marL="0">
              <a:buNone/>
            </a:pPr>
            <a:r>
              <a:rPr lang="en-US" sz="1200" b="1" i="1" dirty="0">
                <a:solidFill>
                  <a:srgbClr val="0D1B2A"/>
                </a:solidFill>
                <a:latin typeface="Arial" pitchFamily="34" charset="0"/>
                <a:ea typeface="Arial" pitchFamily="34" charset="-122"/>
                <a:cs typeface="Arial" pitchFamily="34" charset="-120"/>
              </a:rPr>
              <a:t>In plain terms: </a:t>
            </a:r>
            <a:pPr indent="0" marL="0">
              <a:buNone/>
            </a:pPr>
            <a:r>
              <a:rPr lang="en-US" sz="1200" i="1" dirty="0">
                <a:solidFill>
                  <a:srgbClr val="0D1B2A"/>
                </a:solidFill>
                <a:latin typeface="Arial" pitchFamily="34" charset="0"/>
                <a:ea typeface="Arial" pitchFamily="34" charset="-122"/>
                <a:cs typeface="Arial" pitchFamily="34" charset="-120"/>
              </a:rPr>
              <a:t>A model with 10.5x fewer parameters gives up 0.037 of melanoma F1. The conclusion holds under both definitions of "best", so it does not depend on a choice I made after seeing the data.</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D1B2A"/>
          </a:solidFill>
          <a:ln w="12700">
            <a:solidFill>
              <a:srgbClr val="0D1B2A"/>
            </a:solidFill>
            <a:prstDash val="solid"/>
          </a:ln>
        </p:spPr>
      </p:sp>
      <p:sp>
        <p:nvSpPr>
          <p:cNvPr id="3" name="Text 1"/>
          <p:cNvSpPr/>
          <p:nvPr/>
        </p:nvSpPr>
        <p:spPr>
          <a:xfrm>
            <a:off x="320040" y="54864"/>
            <a:ext cx="9875520" cy="219456"/>
          </a:xfrm>
          <a:prstGeom prst="rect">
            <a:avLst/>
          </a:prstGeom>
          <a:noFill/>
          <a:ln/>
        </p:spPr>
        <p:txBody>
          <a:bodyPr wrap="square" rtlCol="0" anchor="ctr"/>
          <a:lstStyle/>
          <a:p>
            <a:pPr indent="0" marL="0">
              <a:buNone/>
            </a:pPr>
            <a:r>
              <a:rPr lang="en-US" sz="1000" b="1" spc="100" kern="0" dirty="0">
                <a:solidFill>
                  <a:srgbClr val="D54407"/>
                </a:solidFill>
                <a:latin typeface="Arial" pitchFamily="34" charset="0"/>
                <a:ea typeface="Arial" pitchFamily="34" charset="-122"/>
                <a:cs typeface="Arial" pitchFamily="34" charset="-120"/>
              </a:rPr>
              <a:t>RESULTS</a:t>
            </a:r>
            <a:endParaRPr lang="en-US" sz="1000" dirty="0"/>
          </a:p>
        </p:txBody>
      </p:sp>
      <p:sp>
        <p:nvSpPr>
          <p:cNvPr id="4" name="Text 2"/>
          <p:cNvSpPr/>
          <p:nvPr/>
        </p:nvSpPr>
        <p:spPr>
          <a:xfrm>
            <a:off x="320040" y="256032"/>
            <a:ext cx="9875520" cy="384048"/>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RQ2 — The Best Strategy Depends on the Architecture</a:t>
            </a:r>
            <a:endParaRPr lang="en-US" sz="2100" dirty="0"/>
          </a:p>
        </p:txBody>
      </p:sp>
      <p:pic>
        <p:nvPicPr>
          <p:cNvPr id="5" name="Image 0" descr="/Users/rajakarthikchirumamilla/Desktop/ham10000-cnn-comparison/presentation/logo.png">    </p:cNvPr>
          <p:cNvPicPr>
            <a:picLocks noChangeAspect="1"/>
          </p:cNvPicPr>
          <p:nvPr/>
        </p:nvPicPr>
        <p:blipFill>
          <a:blip r:embed="rId1"/>
          <a:stretch>
            <a:fillRect/>
          </a:stretch>
        </p:blipFill>
        <p:spPr>
          <a:xfrm>
            <a:off x="11109960" y="73152"/>
            <a:ext cx="914400" cy="502920"/>
          </a:xfrm>
          <a:prstGeom prst="rect">
            <a:avLst/>
          </a:prstGeom>
        </p:spPr>
      </p:pic>
      <p:sp>
        <p:nvSpPr>
          <p:cNvPr id="6"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12/27</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914400" y="1188720"/>
          <a:ext cx="10332720" cy="914400"/>
        </p:xfrm>
        <a:graphic>
          <a:graphicData uri="http://schemas.openxmlformats.org/drawingml/2006/table">
            <a:tbl>
              <a:tblPr/>
              <a:tblGrid>
                <a:gridCol w="2743200"/>
                <a:gridCol w="2514600"/>
                <a:gridCol w="2514600"/>
                <a:gridCol w="2560320"/>
              </a:tblGrid>
              <a:tr h="457200">
                <a:tc>
                  <a:txBody>
                    <a:bodyPr/>
                    <a:lstStyle/>
                    <a:p>
                      <a:pPr algn="ctr" indent="0" marL="0">
                        <a:buNone/>
                      </a:pP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Augmentation only</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Weighted CE</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Oversampling</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r>
              <a:tr h="457200">
                <a:tc>
                  <a:txBody>
                    <a:bodyPr/>
                    <a:lstStyle/>
                    <a:p>
                      <a:pPr indent="0" marL="0">
                        <a:buNone/>
                      </a:pPr>
                      <a:r>
                        <a:rPr lang="en-US" sz="1300" b="1" dirty="0">
                          <a:solidFill>
                            <a:srgbClr val="000000"/>
                          </a:solidFill>
                          <a:latin typeface="Arial" pitchFamily="34" charset="0"/>
                          <a:ea typeface="Arial" pitchFamily="34" charset="-122"/>
                          <a:cs typeface="Arial" pitchFamily="34" charset="-120"/>
                        </a:rPr>
                        <a:t>MobileNetV2</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0.589 (E1)</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0.648 (E3)</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0.548 (E5)</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00000"/>
                          </a:solidFill>
                          <a:latin typeface="Arial" pitchFamily="34" charset="0"/>
                          <a:ea typeface="Arial" pitchFamily="34" charset="-122"/>
                          <a:cs typeface="Arial" pitchFamily="34" charset="-120"/>
                        </a:rPr>
                        <a:t>ResNet-50</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0.516 (E2)</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0.378 (E4)</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0.352 (E6)</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8" name="Text 4"/>
          <p:cNvSpPr/>
          <p:nvPr/>
        </p:nvSpPr>
        <p:spPr>
          <a:xfrm>
            <a:off x="411480" y="2834640"/>
            <a:ext cx="11338560" cy="914400"/>
          </a:xfrm>
          <a:prstGeom prst="rect">
            <a:avLst/>
          </a:prstGeom>
          <a:noFill/>
          <a:ln/>
        </p:spPr>
        <p:txBody>
          <a:bodyPr wrap="square" rtlCol="0" anchor="t"/>
          <a:lstStyle/>
          <a:p>
            <a:pPr marL="342900" indent="-342900">
              <a:spcAft>
                <a:spcPts val="600"/>
              </a:spcAft>
              <a:buSzPct val="100000"/>
              <a:buChar char="•"/>
            </a:pPr>
            <a:r>
              <a:rPr lang="en-US" sz="1400" dirty="0">
                <a:solidFill>
                  <a:srgbClr val="263238"/>
                </a:solidFill>
                <a:latin typeface="Arial" pitchFamily="34" charset="0"/>
                <a:ea typeface="Arial" pitchFamily="34" charset="-122"/>
                <a:cs typeface="Arial" pitchFamily="34" charset="-120"/>
              </a:rPr>
              <a:t>Weighted CE is best for MobileNetV2. Augmentation-only is best for ResNet-50.</a:t>
            </a:r>
            <a:endParaRPr lang="en-US" sz="1400" dirty="0"/>
          </a:p>
          <a:p>
            <a:pPr lvl="1" marL="381000" indent="-190500">
              <a:spcAft>
                <a:spcPts val="600"/>
              </a:spcAft>
              <a:buSzPct val="100000"/>
              <a:buChar char="–"/>
            </a:pPr>
            <a:r>
              <a:rPr lang="en-US" sz="1300" dirty="0">
                <a:solidFill>
                  <a:srgbClr val="455A64"/>
                </a:solidFill>
                <a:latin typeface="Arial" pitchFamily="34" charset="0"/>
                <a:ea typeface="Arial" pitchFamily="34" charset="-122"/>
                <a:cs typeface="Arial" pitchFamily="34" charset="-120"/>
              </a:rPr>
              <a:t>Both remedies made ResNet-50 worse at the very classes they target</a:t>
            </a:r>
            <a:endParaRPr lang="en-US" sz="1400" dirty="0"/>
          </a:p>
        </p:txBody>
      </p:sp>
      <p:sp>
        <p:nvSpPr>
          <p:cNvPr id="9" name="Shape 5"/>
          <p:cNvSpPr/>
          <p:nvPr/>
        </p:nvSpPr>
        <p:spPr>
          <a:xfrm>
            <a:off x="411480" y="5586984"/>
            <a:ext cx="11338560" cy="676656"/>
          </a:xfrm>
          <a:prstGeom prst="rect">
            <a:avLst/>
          </a:prstGeom>
          <a:solidFill>
            <a:srgbClr val="F5F5F5"/>
          </a:solidFill>
          <a:ln w="12700">
            <a:solidFill>
              <a:srgbClr val="E0E0E0"/>
            </a:solidFill>
            <a:prstDash val="solid"/>
          </a:ln>
        </p:spPr>
      </p:sp>
      <p:sp>
        <p:nvSpPr>
          <p:cNvPr id="10" name="Text 6"/>
          <p:cNvSpPr/>
          <p:nvPr/>
        </p:nvSpPr>
        <p:spPr>
          <a:xfrm>
            <a:off x="594360" y="5586984"/>
            <a:ext cx="10972800" cy="676656"/>
          </a:xfrm>
          <a:prstGeom prst="rect">
            <a:avLst/>
          </a:prstGeom>
          <a:noFill/>
          <a:ln/>
        </p:spPr>
        <p:txBody>
          <a:bodyPr wrap="square" rtlCol="0" anchor="ctr"/>
          <a:lstStyle/>
          <a:p>
            <a:pPr indent="0" marL="0">
              <a:buNone/>
            </a:pPr>
            <a:r>
              <a:rPr lang="en-US" sz="1200" b="1" i="1" dirty="0">
                <a:solidFill>
                  <a:srgbClr val="0D1B2A"/>
                </a:solidFill>
                <a:latin typeface="Arial" pitchFamily="34" charset="0"/>
                <a:ea typeface="Arial" pitchFamily="34" charset="-122"/>
                <a:cs typeface="Arial" pitchFamily="34" charset="-120"/>
              </a:rPr>
              <a:t>What this shows: </a:t>
            </a:r>
            <a:pPr indent="0" marL="0">
              <a:buNone/>
            </a:pPr>
            <a:r>
              <a:rPr lang="en-US" sz="1200" i="1" dirty="0">
                <a:solidFill>
                  <a:srgbClr val="0D1B2A"/>
                </a:solidFill>
                <a:latin typeface="Arial" pitchFamily="34" charset="0"/>
                <a:ea typeface="Arial" pitchFamily="34" charset="-122"/>
                <a:cs typeface="Arial" pitchFamily="34" charset="-120"/>
              </a:rPr>
              <a:t>This is what the factorial exists to find. A study varying one factor at a time would report a single 'best' imbalance strategy and be wrong for one of the two architectures. Chapter 8 traces the mechanism to optimisation stability, not class frequency.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D1B2A"/>
          </a:solidFill>
          <a:ln w="12700">
            <a:solidFill>
              <a:srgbClr val="0D1B2A"/>
            </a:solidFill>
            <a:prstDash val="solid"/>
          </a:ln>
        </p:spPr>
      </p:sp>
      <p:sp>
        <p:nvSpPr>
          <p:cNvPr id="3" name="Text 1"/>
          <p:cNvSpPr/>
          <p:nvPr/>
        </p:nvSpPr>
        <p:spPr>
          <a:xfrm>
            <a:off x="320040" y="54864"/>
            <a:ext cx="9875520" cy="219456"/>
          </a:xfrm>
          <a:prstGeom prst="rect">
            <a:avLst/>
          </a:prstGeom>
          <a:noFill/>
          <a:ln/>
        </p:spPr>
        <p:txBody>
          <a:bodyPr wrap="square" rtlCol="0" anchor="ctr"/>
          <a:lstStyle/>
          <a:p>
            <a:pPr indent="0" marL="0">
              <a:buNone/>
            </a:pPr>
            <a:r>
              <a:rPr lang="en-US" sz="1000" b="1" spc="100" kern="0" dirty="0">
                <a:solidFill>
                  <a:srgbClr val="D54407"/>
                </a:solidFill>
                <a:latin typeface="Arial" pitchFamily="34" charset="0"/>
                <a:ea typeface="Arial" pitchFamily="34" charset="-122"/>
                <a:cs typeface="Arial" pitchFamily="34" charset="-120"/>
              </a:rPr>
              <a:t>RESULTS</a:t>
            </a:r>
            <a:endParaRPr lang="en-US" sz="1000" dirty="0"/>
          </a:p>
        </p:txBody>
      </p:sp>
      <p:sp>
        <p:nvSpPr>
          <p:cNvPr id="4" name="Text 2"/>
          <p:cNvSpPr/>
          <p:nvPr/>
        </p:nvSpPr>
        <p:spPr>
          <a:xfrm>
            <a:off x="320040" y="256032"/>
            <a:ext cx="9875520" cy="384048"/>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RQ3 — Efficiency, on Two CPUs</a:t>
            </a:r>
            <a:endParaRPr lang="en-US" sz="2100" dirty="0"/>
          </a:p>
        </p:txBody>
      </p:sp>
      <p:pic>
        <p:nvPicPr>
          <p:cNvPr id="5" name="Image 0" descr="/Users/rajakarthikchirumamilla/Desktop/ham10000-cnn-comparison/presentation/logo.png">    </p:cNvPr>
          <p:cNvPicPr>
            <a:picLocks noChangeAspect="1"/>
          </p:cNvPicPr>
          <p:nvPr/>
        </p:nvPicPr>
        <p:blipFill>
          <a:blip r:embed="rId1"/>
          <a:stretch>
            <a:fillRect/>
          </a:stretch>
        </p:blipFill>
        <p:spPr>
          <a:xfrm>
            <a:off x="11109960" y="73152"/>
            <a:ext cx="914400" cy="502920"/>
          </a:xfrm>
          <a:prstGeom prst="rect">
            <a:avLst/>
          </a:prstGeom>
        </p:spPr>
      </p:pic>
      <p:sp>
        <p:nvSpPr>
          <p:cNvPr id="6"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13/27</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914400" y="1143000"/>
          <a:ext cx="10332720" cy="914400"/>
        </p:xfrm>
        <a:graphic>
          <a:graphicData uri="http://schemas.openxmlformats.org/drawingml/2006/table">
            <a:tbl>
              <a:tblPr/>
              <a:tblGrid>
                <a:gridCol w="3108960"/>
                <a:gridCol w="2011680"/>
                <a:gridCol w="1737360"/>
                <a:gridCol w="1737360"/>
                <a:gridCol w="1737360"/>
              </a:tblGrid>
              <a:tr h="402336">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Architecture</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Params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Size (MB)</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ARM64 (ms)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x86-64 (ms)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r>
              <a:tr h="402336">
                <a:tc>
                  <a:txBody>
                    <a:bodyPr/>
                    <a:lstStyle/>
                    <a:p>
                      <a:pPr algn="l" indent="0" marL="0">
                        <a:buNone/>
                      </a:pPr>
                      <a:r>
                        <a:rPr lang="en-US" sz="1200" b="1" dirty="0">
                          <a:solidFill>
                            <a:srgbClr val="263238"/>
                          </a:solidFill>
                          <a:latin typeface="Arial" pitchFamily="34" charset="0"/>
                          <a:ea typeface="Arial" pitchFamily="34" charset="-122"/>
                          <a:cs typeface="Arial" pitchFamily="34" charset="-120"/>
                        </a:rPr>
                        <a:t>MobileNetV2</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38"/>
                          </a:solidFill>
                          <a:latin typeface="Arial" pitchFamily="34" charset="0"/>
                          <a:ea typeface="Arial" pitchFamily="34" charset="-122"/>
                          <a:cs typeface="Arial" pitchFamily="34" charset="-120"/>
                        </a:rPr>
                        <a:t>2,232,839</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38"/>
                          </a:solidFill>
                          <a:latin typeface="Arial" pitchFamily="34" charset="0"/>
                          <a:ea typeface="Arial" pitchFamily="34" charset="-122"/>
                          <a:cs typeface="Arial" pitchFamily="34" charset="-120"/>
                        </a:rPr>
                        <a:t>9.07</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38"/>
                          </a:solidFill>
                          <a:latin typeface="Arial" pitchFamily="34" charset="0"/>
                          <a:ea typeface="Arial" pitchFamily="34" charset="-122"/>
                          <a:cs typeface="Arial" pitchFamily="34" charset="-120"/>
                        </a:rPr>
                        <a:t>14.2</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38"/>
                          </a:solidFill>
                          <a:latin typeface="Arial" pitchFamily="34" charset="0"/>
                          <a:ea typeface="Arial" pitchFamily="34" charset="-122"/>
                          <a:cs typeface="Arial" pitchFamily="34" charset="-120"/>
                        </a:rPr>
                        <a:t>19.5</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02336">
                <a:tc>
                  <a:txBody>
                    <a:bodyPr/>
                    <a:lstStyle/>
                    <a:p>
                      <a:pPr algn="l" indent="0" marL="0">
                        <a:buNone/>
                      </a:pPr>
                      <a:r>
                        <a:rPr lang="en-US" sz="1200" b="1" dirty="0">
                          <a:solidFill>
                            <a:srgbClr val="263238"/>
                          </a:solidFill>
                          <a:latin typeface="Arial" pitchFamily="34" charset="0"/>
                          <a:ea typeface="Arial" pitchFamily="34" charset="-122"/>
                          <a:cs typeface="Arial" pitchFamily="34" charset="-120"/>
                        </a:rPr>
                        <a:t>ResNet-50</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200" dirty="0">
                          <a:solidFill>
                            <a:srgbClr val="263238"/>
                          </a:solidFill>
                          <a:latin typeface="Arial" pitchFamily="34" charset="0"/>
                          <a:ea typeface="Arial" pitchFamily="34" charset="-122"/>
                          <a:cs typeface="Arial" pitchFamily="34" charset="-120"/>
                        </a:rPr>
                        <a:t>23,522,375</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200" dirty="0">
                          <a:solidFill>
                            <a:srgbClr val="263238"/>
                          </a:solidFill>
                          <a:latin typeface="Arial" pitchFamily="34" charset="0"/>
                          <a:ea typeface="Arial" pitchFamily="34" charset="-122"/>
                          <a:cs typeface="Arial" pitchFamily="34" charset="-120"/>
                        </a:rPr>
                        <a:t>94.30</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200" dirty="0">
                          <a:solidFill>
                            <a:srgbClr val="263238"/>
                          </a:solidFill>
                          <a:latin typeface="Arial" pitchFamily="34" charset="0"/>
                          <a:ea typeface="Arial" pitchFamily="34" charset="-122"/>
                          <a:cs typeface="Arial" pitchFamily="34" charset="-120"/>
                        </a:rPr>
                        <a:t>31.1</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200" dirty="0">
                          <a:solidFill>
                            <a:srgbClr val="263238"/>
                          </a:solidFill>
                          <a:latin typeface="Arial" pitchFamily="34" charset="0"/>
                          <a:ea typeface="Arial" pitchFamily="34" charset="-122"/>
                          <a:cs typeface="Arial" pitchFamily="34" charset="-120"/>
                        </a:rPr>
                        <a:t>133.2</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402336">
                <a:tc>
                  <a:txBody>
                    <a:bodyPr/>
                    <a:lstStyle/>
                    <a:p>
                      <a:pPr algn="l" indent="0" marL="0">
                        <a:buNone/>
                      </a:pPr>
                      <a:r>
                        <a:rPr lang="en-US" sz="1200" b="1" dirty="0">
                          <a:solidFill>
                            <a:srgbClr val="263238"/>
                          </a:solidFill>
                          <a:latin typeface="Arial" pitchFamily="34" charset="0"/>
                          <a:ea typeface="Arial" pitchFamily="34" charset="-122"/>
                          <a:cs typeface="Arial" pitchFamily="34" charset="-120"/>
                        </a:rPr>
                        <a:t>EfficientNet-B3 @224</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38"/>
                          </a:solidFill>
                          <a:latin typeface="Arial" pitchFamily="34" charset="0"/>
                          <a:ea typeface="Arial" pitchFamily="34" charset="-122"/>
                          <a:cs typeface="Arial" pitchFamily="34" charset="-120"/>
                        </a:rPr>
                        <a:t>10,706,991</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38"/>
                          </a:solidFill>
                          <a:latin typeface="Arial" pitchFamily="34" charset="0"/>
                          <a:ea typeface="Arial" pitchFamily="34" charset="-122"/>
                          <a:cs typeface="Arial" pitchFamily="34" charset="-120"/>
                        </a:rPr>
                        <a:t>43.18</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38"/>
                          </a:solidFill>
                          <a:latin typeface="Arial" pitchFamily="34" charset="0"/>
                          <a:ea typeface="Arial" pitchFamily="34" charset="-122"/>
                          <a:cs typeface="Arial" pitchFamily="34" charset="-120"/>
                        </a:rPr>
                        <a:t>89.5</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3238"/>
                          </a:solidFill>
                          <a:latin typeface="Arial" pitchFamily="34" charset="0"/>
                          <a:ea typeface="Arial" pitchFamily="34" charset="-122"/>
                          <a:cs typeface="Arial" pitchFamily="34" charset="-120"/>
                        </a:rPr>
                        <a:t>66.9</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02336">
                <a:tc>
                  <a:txBody>
                    <a:bodyPr/>
                    <a:lstStyle/>
                    <a:p>
                      <a:pPr algn="l" indent="0" marL="0">
                        <a:buNone/>
                      </a:pPr>
                      <a:r>
                        <a:rPr lang="en-US" sz="1200" b="1" dirty="0">
                          <a:solidFill>
                            <a:srgbClr val="263238"/>
                          </a:solidFill>
                          <a:latin typeface="Arial" pitchFamily="34" charset="0"/>
                          <a:ea typeface="Arial" pitchFamily="34" charset="-122"/>
                          <a:cs typeface="Arial" pitchFamily="34" charset="-120"/>
                        </a:rPr>
                        <a:t>EfficientNet-B3 @300</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200" dirty="0">
                          <a:solidFill>
                            <a:srgbClr val="263238"/>
                          </a:solidFill>
                          <a:latin typeface="Arial" pitchFamily="34" charset="0"/>
                          <a:ea typeface="Arial" pitchFamily="34" charset="-122"/>
                          <a:cs typeface="Arial" pitchFamily="34" charset="-120"/>
                        </a:rPr>
                        <a:t>10,706,991</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200" dirty="0">
                          <a:solidFill>
                            <a:srgbClr val="263238"/>
                          </a:solidFill>
                          <a:latin typeface="Arial" pitchFamily="34" charset="0"/>
                          <a:ea typeface="Arial" pitchFamily="34" charset="-122"/>
                          <a:cs typeface="Arial" pitchFamily="34" charset="-120"/>
                        </a:rPr>
                        <a:t>43.18</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200" dirty="0">
                          <a:solidFill>
                            <a:srgbClr val="263238"/>
                          </a:solidFill>
                          <a:latin typeface="Arial" pitchFamily="34" charset="0"/>
                          <a:ea typeface="Arial" pitchFamily="34" charset="-122"/>
                          <a:cs typeface="Arial" pitchFamily="34" charset="-120"/>
                        </a:rPr>
                        <a:t>126.5</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200" dirty="0">
                          <a:solidFill>
                            <a:srgbClr val="263238"/>
                          </a:solidFill>
                          <a:latin typeface="Arial" pitchFamily="34" charset="0"/>
                          <a:ea typeface="Arial" pitchFamily="34" charset="-122"/>
                          <a:cs typeface="Arial" pitchFamily="34" charset="-120"/>
                        </a:rPr>
                        <a:t>116.4</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bl>
          </a:graphicData>
        </a:graphic>
      </p:graphicFrame>
      <p:sp>
        <p:nvSpPr>
          <p:cNvPr id="8" name="Shape 4"/>
          <p:cNvSpPr/>
          <p:nvPr/>
        </p:nvSpPr>
        <p:spPr>
          <a:xfrm>
            <a:off x="411480" y="5385816"/>
            <a:ext cx="11338560" cy="877824"/>
          </a:xfrm>
          <a:prstGeom prst="rect">
            <a:avLst/>
          </a:prstGeom>
          <a:solidFill>
            <a:srgbClr val="F5F5F5"/>
          </a:solidFill>
          <a:ln w="12700">
            <a:solidFill>
              <a:srgbClr val="E0E0E0"/>
            </a:solidFill>
            <a:prstDash val="solid"/>
          </a:ln>
        </p:spPr>
      </p:sp>
      <p:sp>
        <p:nvSpPr>
          <p:cNvPr id="9" name="Text 5"/>
          <p:cNvSpPr/>
          <p:nvPr/>
        </p:nvSpPr>
        <p:spPr>
          <a:xfrm>
            <a:off x="594360" y="5385816"/>
            <a:ext cx="10972800" cy="877824"/>
          </a:xfrm>
          <a:prstGeom prst="rect">
            <a:avLst/>
          </a:prstGeom>
          <a:noFill/>
          <a:ln/>
        </p:spPr>
        <p:txBody>
          <a:bodyPr wrap="square" rtlCol="0" anchor="ctr"/>
          <a:lstStyle/>
          <a:p>
            <a:pPr indent="0" marL="0">
              <a:buNone/>
            </a:pPr>
            <a:r>
              <a:rPr lang="en-US" sz="1200" b="1" i="1" dirty="0">
                <a:solidFill>
                  <a:srgbClr val="0D1B2A"/>
                </a:solidFill>
                <a:latin typeface="Arial" pitchFamily="34" charset="0"/>
                <a:ea typeface="Arial" pitchFamily="34" charset="-122"/>
                <a:cs typeface="Arial" pitchFamily="34" charset="-120"/>
              </a:rPr>
              <a:t>What this shows: </a:t>
            </a:r>
            <a:pPr indent="0" marL="0">
              <a:buNone/>
            </a:pPr>
            <a:r>
              <a:rPr lang="en-US" sz="1200" i="1" dirty="0">
                <a:solidFill>
                  <a:srgbClr val="0D1B2A"/>
                </a:solidFill>
                <a:latin typeface="Arial" pitchFamily="34" charset="0"/>
                <a:ea typeface="Arial" pitchFamily="34" charset="-122"/>
                <a:cs typeface="Arial" pitchFamily="34" charset="-120"/>
              </a:rPr>
              <a:t>MobileNetV2 is fastest on both hosts — the only part of this table that is stable. ResNet-50 and EfficientNet-B3 swap places: B3 is 2.9x slower than ResNet-50 on ARM and 2.0x faster on x86. Parameter count, which is what the literature usually reports as 'efficiency', predicts neither. Phones are ARM, so the ARM column is the one this thesis rests 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D1B2A"/>
          </a:solidFill>
          <a:ln w="12700">
            <a:solidFill>
              <a:srgbClr val="0D1B2A"/>
            </a:solidFill>
            <a:prstDash val="solid"/>
          </a:ln>
        </p:spPr>
      </p:sp>
      <p:sp>
        <p:nvSpPr>
          <p:cNvPr id="3" name="Text 1"/>
          <p:cNvSpPr/>
          <p:nvPr/>
        </p:nvSpPr>
        <p:spPr>
          <a:xfrm>
            <a:off x="320040" y="54864"/>
            <a:ext cx="9875520" cy="219456"/>
          </a:xfrm>
          <a:prstGeom prst="rect">
            <a:avLst/>
          </a:prstGeom>
          <a:noFill/>
          <a:ln/>
        </p:spPr>
        <p:txBody>
          <a:bodyPr wrap="square" rtlCol="0" anchor="ctr"/>
          <a:lstStyle/>
          <a:p>
            <a:pPr indent="0" marL="0">
              <a:buNone/>
            </a:pPr>
            <a:r>
              <a:rPr lang="en-US" sz="1000" b="1" spc="100" kern="0" dirty="0">
                <a:solidFill>
                  <a:srgbClr val="D54407"/>
                </a:solidFill>
                <a:latin typeface="Arial" pitchFamily="34" charset="0"/>
                <a:ea typeface="Arial" pitchFamily="34" charset="-122"/>
                <a:cs typeface="Arial" pitchFamily="34" charset="-120"/>
              </a:rPr>
              <a:t>RESULTS</a:t>
            </a:r>
            <a:endParaRPr lang="en-US" sz="1000" dirty="0"/>
          </a:p>
        </p:txBody>
      </p:sp>
      <p:sp>
        <p:nvSpPr>
          <p:cNvPr id="4" name="Text 2"/>
          <p:cNvSpPr/>
          <p:nvPr/>
        </p:nvSpPr>
        <p:spPr>
          <a:xfrm>
            <a:off x="320040" y="256032"/>
            <a:ext cx="9875520" cy="384048"/>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Statistical Testing</a:t>
            </a:r>
            <a:endParaRPr lang="en-US" sz="2100" dirty="0"/>
          </a:p>
        </p:txBody>
      </p:sp>
      <p:pic>
        <p:nvPicPr>
          <p:cNvPr id="5" name="Image 0" descr="/Users/rajakarthikchirumamilla/Desktop/ham10000-cnn-comparison/presentation/logo.png">    </p:cNvPr>
          <p:cNvPicPr>
            <a:picLocks noChangeAspect="1"/>
          </p:cNvPicPr>
          <p:nvPr/>
        </p:nvPicPr>
        <p:blipFill>
          <a:blip r:embed="rId1"/>
          <a:stretch>
            <a:fillRect/>
          </a:stretch>
        </p:blipFill>
        <p:spPr>
          <a:xfrm>
            <a:off x="11109960" y="73152"/>
            <a:ext cx="914400" cy="502920"/>
          </a:xfrm>
          <a:prstGeom prst="rect">
            <a:avLst/>
          </a:prstGeom>
        </p:spPr>
      </p:pic>
      <p:sp>
        <p:nvSpPr>
          <p:cNvPr id="6"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14/27</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1645920" y="1005840"/>
          <a:ext cx="8869680" cy="914400"/>
        </p:xfrm>
        <a:graphic>
          <a:graphicData uri="http://schemas.openxmlformats.org/drawingml/2006/table">
            <a:tbl>
              <a:tblPr/>
              <a:tblGrid>
                <a:gridCol w="2560320"/>
                <a:gridCol w="2194560"/>
                <a:gridCol w="2011680"/>
                <a:gridCol w="2103120"/>
              </a:tblGrid>
              <a:tr h="32004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Comparison</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p (Holm)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Significant</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Favours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r>
              <a:tr h="320040">
                <a:tc>
                  <a:txBody>
                    <a:bodyPr/>
                    <a:lstStyle/>
                    <a:p>
                      <a:pPr algn="l" indent="0" marL="0">
                        <a:buNone/>
                      </a:pPr>
                      <a:r>
                        <a:rPr lang="en-US" sz="1100" b="1" dirty="0">
                          <a:solidFill>
                            <a:srgbClr val="263238"/>
                          </a:solidFill>
                          <a:latin typeface="Arial" pitchFamily="34" charset="0"/>
                          <a:ea typeface="Arial" pitchFamily="34" charset="-122"/>
                          <a:cs typeface="Arial" pitchFamily="34" charset="-120"/>
                        </a:rPr>
                        <a:t>E1 vs E2</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1.0000</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E1</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20040">
                <a:tc>
                  <a:txBody>
                    <a:bodyPr/>
                    <a:lstStyle/>
                    <a:p>
                      <a:pPr algn="l" indent="0" marL="0">
                        <a:buNone/>
                      </a:pPr>
                      <a:r>
                        <a:rPr lang="en-US" sz="1100" b="1" dirty="0">
                          <a:solidFill>
                            <a:srgbClr val="263238"/>
                          </a:solidFill>
                          <a:latin typeface="Arial" pitchFamily="34" charset="0"/>
                          <a:ea typeface="Arial" pitchFamily="34" charset="-122"/>
                          <a:cs typeface="Arial" pitchFamily="34" charset="-120"/>
                        </a:rPr>
                        <a:t>E3 vs E4</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1.0000</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E3</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320040">
                <a:tc>
                  <a:txBody>
                    <a:bodyPr/>
                    <a:lstStyle/>
                    <a:p>
                      <a:pPr algn="l" indent="0" marL="0">
                        <a:buNone/>
                      </a:pPr>
                      <a:r>
                        <a:rPr lang="en-US" sz="1100" b="1" dirty="0">
                          <a:solidFill>
                            <a:srgbClr val="263238"/>
                          </a:solidFill>
                          <a:latin typeface="Arial" pitchFamily="34" charset="0"/>
                          <a:ea typeface="Arial" pitchFamily="34" charset="-122"/>
                          <a:cs typeface="Arial" pitchFamily="34" charset="-120"/>
                        </a:rPr>
                        <a:t>E5 vs E6</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6.07e-6</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E5</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20040">
                <a:tc>
                  <a:txBody>
                    <a:bodyPr/>
                    <a:lstStyle/>
                    <a:p>
                      <a:pPr algn="l" indent="0" marL="0">
                        <a:buNone/>
                      </a:pPr>
                      <a:r>
                        <a:rPr lang="en-US" sz="1100" b="1" dirty="0">
                          <a:solidFill>
                            <a:srgbClr val="263238"/>
                          </a:solidFill>
                          <a:latin typeface="Arial" pitchFamily="34" charset="0"/>
                          <a:ea typeface="Arial" pitchFamily="34" charset="-122"/>
                          <a:cs typeface="Arial" pitchFamily="34" charset="-120"/>
                        </a:rPr>
                        <a:t>E1 vs E3</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1.62e-8</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E1</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320040">
                <a:tc>
                  <a:txBody>
                    <a:bodyPr/>
                    <a:lstStyle/>
                    <a:p>
                      <a:pPr algn="l" indent="0" marL="0">
                        <a:buNone/>
                      </a:pPr>
                      <a:r>
                        <a:rPr lang="en-US" sz="1100" b="1" dirty="0">
                          <a:solidFill>
                            <a:srgbClr val="263238"/>
                          </a:solidFill>
                          <a:latin typeface="Arial" pitchFamily="34" charset="0"/>
                          <a:ea typeface="Arial" pitchFamily="34" charset="-122"/>
                          <a:cs typeface="Arial" pitchFamily="34" charset="-120"/>
                        </a:rPr>
                        <a:t>E1 vs E5</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1.0000</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E1</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20040">
                <a:tc>
                  <a:txBody>
                    <a:bodyPr/>
                    <a:lstStyle/>
                    <a:p>
                      <a:pPr algn="l" indent="0" marL="0">
                        <a:buNone/>
                      </a:pPr>
                      <a:r>
                        <a:rPr lang="en-US" sz="1100" b="1" dirty="0">
                          <a:solidFill>
                            <a:srgbClr val="263238"/>
                          </a:solidFill>
                          <a:latin typeface="Arial" pitchFamily="34" charset="0"/>
                          <a:ea typeface="Arial" pitchFamily="34" charset="-122"/>
                          <a:cs typeface="Arial" pitchFamily="34" charset="-120"/>
                        </a:rPr>
                        <a:t>E3 vs E5</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6.84e-9</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E5</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320040">
                <a:tc>
                  <a:txBody>
                    <a:bodyPr/>
                    <a:lstStyle/>
                    <a:p>
                      <a:pPr algn="l" indent="0" marL="0">
                        <a:buNone/>
                      </a:pPr>
                      <a:r>
                        <a:rPr lang="en-US" sz="1100" b="1" dirty="0">
                          <a:solidFill>
                            <a:srgbClr val="263238"/>
                          </a:solidFill>
                          <a:latin typeface="Arial" pitchFamily="34" charset="0"/>
                          <a:ea typeface="Arial" pitchFamily="34" charset="-122"/>
                          <a:cs typeface="Arial" pitchFamily="34" charset="-120"/>
                        </a:rPr>
                        <a:t>E2 vs E4</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2.30e-11</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E2</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20040">
                <a:tc>
                  <a:txBody>
                    <a:bodyPr/>
                    <a:lstStyle/>
                    <a:p>
                      <a:pPr algn="l" indent="0" marL="0">
                        <a:buNone/>
                      </a:pPr>
                      <a:r>
                        <a:rPr lang="en-US" sz="1100" b="1" dirty="0">
                          <a:solidFill>
                            <a:srgbClr val="263238"/>
                          </a:solidFill>
                          <a:latin typeface="Arial" pitchFamily="34" charset="0"/>
                          <a:ea typeface="Arial" pitchFamily="34" charset="-122"/>
                          <a:cs typeface="Arial" pitchFamily="34" charset="-120"/>
                        </a:rPr>
                        <a:t>E2 vs E6</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8.26e-7</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E2</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320040">
                <a:tc>
                  <a:txBody>
                    <a:bodyPr/>
                    <a:lstStyle/>
                    <a:p>
                      <a:pPr algn="l" indent="0" marL="0">
                        <a:buNone/>
                      </a:pPr>
                      <a:r>
                        <a:rPr lang="en-US" sz="1100" b="1" dirty="0">
                          <a:solidFill>
                            <a:srgbClr val="263238"/>
                          </a:solidFill>
                          <a:latin typeface="Arial" pitchFamily="34" charset="0"/>
                          <a:ea typeface="Arial" pitchFamily="34" charset="-122"/>
                          <a:cs typeface="Arial" pitchFamily="34" charset="-120"/>
                        </a:rPr>
                        <a:t>E4 vs E6</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0.3676</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3238"/>
                          </a:solidFill>
                          <a:latin typeface="Arial" pitchFamily="34" charset="0"/>
                          <a:ea typeface="Arial" pitchFamily="34" charset="-122"/>
                          <a:cs typeface="Arial" pitchFamily="34" charset="-120"/>
                        </a:rPr>
                        <a:t>E6</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8" name="Shape 4"/>
          <p:cNvSpPr/>
          <p:nvPr/>
        </p:nvSpPr>
        <p:spPr>
          <a:xfrm>
            <a:off x="411480" y="5385816"/>
            <a:ext cx="11338560" cy="877824"/>
          </a:xfrm>
          <a:prstGeom prst="rect">
            <a:avLst/>
          </a:prstGeom>
          <a:solidFill>
            <a:srgbClr val="F5F5F5"/>
          </a:solidFill>
          <a:ln w="12700">
            <a:solidFill>
              <a:srgbClr val="E0E0E0"/>
            </a:solidFill>
            <a:prstDash val="solid"/>
          </a:ln>
        </p:spPr>
      </p:sp>
      <p:sp>
        <p:nvSpPr>
          <p:cNvPr id="9" name="Text 5"/>
          <p:cNvSpPr/>
          <p:nvPr/>
        </p:nvSpPr>
        <p:spPr>
          <a:xfrm>
            <a:off x="594360" y="5385816"/>
            <a:ext cx="10972800" cy="877824"/>
          </a:xfrm>
          <a:prstGeom prst="rect">
            <a:avLst/>
          </a:prstGeom>
          <a:noFill/>
          <a:ln/>
        </p:spPr>
        <p:txBody>
          <a:bodyPr wrap="square" rtlCol="0" anchor="ctr"/>
          <a:lstStyle/>
          <a:p>
            <a:pPr indent="0" marL="0">
              <a:buNone/>
            </a:pPr>
            <a:r>
              <a:rPr lang="en-US" sz="1200" b="1" i="1" dirty="0">
                <a:solidFill>
                  <a:srgbClr val="0D1B2A"/>
                </a:solidFill>
                <a:latin typeface="Arial" pitchFamily="34" charset="0"/>
                <a:ea typeface="Arial" pitchFamily="34" charset="-122"/>
                <a:cs typeface="Arial" pitchFamily="34" charset="-120"/>
              </a:rPr>
              <a:t>What this shows: </a:t>
            </a:r>
            <a:pPr indent="0" marL="0">
              <a:buNone/>
            </a:pPr>
            <a:r>
              <a:rPr lang="en-US" sz="1200" i="1" dirty="0">
                <a:solidFill>
                  <a:srgbClr val="0D1B2A"/>
                </a:solidFill>
                <a:latin typeface="Arial" pitchFamily="34" charset="0"/>
                <a:ea typeface="Arial" pitchFamily="34" charset="-122"/>
                <a:cs typeface="Arial" pitchFamily="34" charset="-120"/>
              </a:rPr>
              <a:t>McNemar's paired test, Holm-corrected; 5 of 9 significant. The two that matter most are E1 vs E2 and E3 vs E4, both at p = 1.000 — under augmentation and weighted CE the two architectures are indistinguishable on per-image correctness, despite a 10.5x difference in size. In no comparison does ResNet-50 significantly beat MobileNetV2.</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2743200"/>
            <a:ext cx="109728" cy="1188720"/>
          </a:xfrm>
          <a:prstGeom prst="rect">
            <a:avLst/>
          </a:prstGeom>
          <a:solidFill>
            <a:srgbClr val="D54407"/>
          </a:solidFill>
          <a:ln w="12700">
            <a:solidFill>
              <a:srgbClr val="D54407"/>
            </a:solidFill>
            <a:prstDash val="solid"/>
          </a:ln>
        </p:spPr>
      </p:sp>
      <p:sp>
        <p:nvSpPr>
          <p:cNvPr id="3" name="Text 1"/>
          <p:cNvSpPr/>
          <p:nvPr/>
        </p:nvSpPr>
        <p:spPr>
          <a:xfrm>
            <a:off x="457200" y="2743200"/>
            <a:ext cx="10515600" cy="82296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The Ablation</a:t>
            </a:r>
            <a:endParaRPr lang="en-US" sz="3400" dirty="0"/>
          </a:p>
        </p:txBody>
      </p:sp>
      <p:sp>
        <p:nvSpPr>
          <p:cNvPr id="4" name="Text 2"/>
          <p:cNvSpPr/>
          <p:nvPr/>
        </p:nvSpPr>
        <p:spPr>
          <a:xfrm>
            <a:off x="457200" y="3520440"/>
            <a:ext cx="10515600" cy="457200"/>
          </a:xfrm>
          <a:prstGeom prst="rect">
            <a:avLst/>
          </a:prstGeom>
          <a:noFill/>
          <a:ln/>
        </p:spPr>
        <p:txBody>
          <a:bodyPr wrap="square" rtlCol="0" anchor="ctr"/>
          <a:lstStyle/>
          <a:p>
            <a:pPr indent="0" marL="0">
              <a:buNone/>
            </a:pPr>
            <a:r>
              <a:rPr lang="en-US" sz="1500" dirty="0">
                <a:solidFill>
                  <a:srgbClr val="90A4AE"/>
                </a:solidFill>
                <a:latin typeface="Arial" pitchFamily="34" charset="0"/>
                <a:ea typeface="Arial" pitchFamily="34" charset="-122"/>
                <a:cs typeface="Arial" pitchFamily="34" charset="-120"/>
              </a:rPr>
              <a:t>EfficientNet-B3 at two resolutions</a:t>
            </a:r>
            <a:endParaRPr lang="en-US" sz="1500" dirty="0"/>
          </a:p>
        </p:txBody>
      </p:sp>
      <p:sp>
        <p:nvSpPr>
          <p:cNvPr id="5"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15/27</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D1B2A"/>
          </a:solidFill>
          <a:ln w="12700">
            <a:solidFill>
              <a:srgbClr val="0D1B2A"/>
            </a:solidFill>
            <a:prstDash val="solid"/>
          </a:ln>
        </p:spPr>
      </p:sp>
      <p:sp>
        <p:nvSpPr>
          <p:cNvPr id="3" name="Text 1"/>
          <p:cNvSpPr/>
          <p:nvPr/>
        </p:nvSpPr>
        <p:spPr>
          <a:xfrm>
            <a:off x="320040" y="54864"/>
            <a:ext cx="9875520" cy="219456"/>
          </a:xfrm>
          <a:prstGeom prst="rect">
            <a:avLst/>
          </a:prstGeom>
          <a:noFill/>
          <a:ln/>
        </p:spPr>
        <p:txBody>
          <a:bodyPr wrap="square" rtlCol="0" anchor="ctr"/>
          <a:lstStyle/>
          <a:p>
            <a:pPr indent="0" marL="0">
              <a:buNone/>
            </a:pPr>
            <a:r>
              <a:rPr lang="en-US" sz="1000" b="1" spc="100" kern="0" dirty="0">
                <a:solidFill>
                  <a:srgbClr val="D54407"/>
                </a:solidFill>
                <a:latin typeface="Arial" pitchFamily="34" charset="0"/>
                <a:ea typeface="Arial" pitchFamily="34" charset="-122"/>
                <a:cs typeface="Arial" pitchFamily="34" charset="-120"/>
              </a:rPr>
              <a:t>ABLATION</a:t>
            </a:r>
            <a:endParaRPr lang="en-US" sz="1000" dirty="0"/>
          </a:p>
        </p:txBody>
      </p:sp>
      <p:sp>
        <p:nvSpPr>
          <p:cNvPr id="4" name="Text 2"/>
          <p:cNvSpPr/>
          <p:nvPr/>
        </p:nvSpPr>
        <p:spPr>
          <a:xfrm>
            <a:off x="320040" y="256032"/>
            <a:ext cx="9875520" cy="384048"/>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B3 Wins on Accuracy — and Loses the Argument</a:t>
            </a:r>
            <a:endParaRPr lang="en-US" sz="2100" dirty="0"/>
          </a:p>
        </p:txBody>
      </p:sp>
      <p:pic>
        <p:nvPicPr>
          <p:cNvPr id="5" name="Image 0" descr="/Users/rajakarthikchirumamilla/Desktop/ham10000-cnn-comparison/presentation/logo.png">    </p:cNvPr>
          <p:cNvPicPr>
            <a:picLocks noChangeAspect="1"/>
          </p:cNvPicPr>
          <p:nvPr/>
        </p:nvPicPr>
        <p:blipFill>
          <a:blip r:embed="rId1"/>
          <a:stretch>
            <a:fillRect/>
          </a:stretch>
        </p:blipFill>
        <p:spPr>
          <a:xfrm>
            <a:off x="11109960" y="73152"/>
            <a:ext cx="914400" cy="502920"/>
          </a:xfrm>
          <a:prstGeom prst="rect">
            <a:avLst/>
          </a:prstGeom>
        </p:spPr>
      </p:pic>
      <p:sp>
        <p:nvSpPr>
          <p:cNvPr id="6"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16/27</a:t>
            </a:r>
            <a:endParaRPr lang="en-US" sz="1000" dirty="0"/>
          </a:p>
        </p:txBody>
      </p:sp>
      <p:sp>
        <p:nvSpPr>
          <p:cNvPr id="7" name="Text 4"/>
          <p:cNvSpPr/>
          <p:nvPr/>
        </p:nvSpPr>
        <p:spPr>
          <a:xfrm>
            <a:off x="411480" y="868680"/>
            <a:ext cx="11338560" cy="4023360"/>
          </a:xfrm>
          <a:prstGeom prst="rect">
            <a:avLst/>
          </a:prstGeom>
          <a:noFill/>
          <a:ln/>
        </p:spPr>
        <p:txBody>
          <a:bodyPr wrap="square" rtlCol="0" anchor="t"/>
          <a:lstStyle/>
          <a:p>
            <a:pPr marL="342900" indent="-342900">
              <a:spcAft>
                <a:spcPts val="600"/>
              </a:spcAft>
              <a:buSzPct val="100000"/>
              <a:buChar char="•"/>
            </a:pPr>
            <a:r>
              <a:rPr lang="en-US" sz="1400" dirty="0">
                <a:solidFill>
                  <a:srgbClr val="263238"/>
                </a:solidFill>
                <a:latin typeface="Arial" pitchFamily="34" charset="0"/>
                <a:ea typeface="Arial" pitchFamily="34" charset="-122"/>
                <a:cs typeface="Arial" pitchFamily="34" charset="-120"/>
              </a:rPr>
              <a:t>E11 (B3 @300, weighted CE) is the highest-scoring run in the study: macro F1 0.738</a:t>
            </a:r>
            <a:endParaRPr lang="en-US" sz="1400" dirty="0"/>
          </a:p>
          <a:p>
            <a:pPr indent="0" marL="0">
              <a:spcAft>
                <a:spcPts val="600"/>
              </a:spcAft>
              <a:buNone/>
            </a:pPr>
            <a:r>
              <a:rPr lang="en-US" sz="600" dirty="0">
                <a:solidFill>
                  <a:srgbClr val="263238"/>
                </a:solidFill>
                <a:latin typeface="Arial" pitchFamily="34" charset="0"/>
                <a:ea typeface="Arial" pitchFamily="34" charset="-122"/>
                <a:cs typeface="Arial" pitchFamily="34" charset="-120"/>
              </a:rPr>
              <a:t> </a:t>
            </a:r>
            <a:endParaRPr lang="en-US" sz="1400" dirty="0"/>
          </a:p>
          <a:p>
            <a:pPr marL="342900" indent="-342900">
              <a:spcAft>
                <a:spcPts val="600"/>
              </a:spcAft>
              <a:buSzPct val="100000"/>
              <a:buChar char="•"/>
            </a:pPr>
            <a:r>
              <a:rPr lang="en-US" sz="1400" dirty="0">
                <a:solidFill>
                  <a:srgbClr val="263238"/>
                </a:solidFill>
                <a:latin typeface="Arial" pitchFamily="34" charset="0"/>
                <a:ea typeface="Arial" pitchFamily="34" charset="-122"/>
                <a:cs typeface="Arial" pitchFamily="34" charset="-120"/>
              </a:rPr>
              <a:t>But at matched 224px resolution, B3 and MobileNetV2 are statistically indistinguishable:</a:t>
            </a:r>
            <a:endParaRPr lang="en-US" sz="1400" dirty="0"/>
          </a:p>
          <a:p>
            <a:pPr lvl="1" marL="381000" indent="-190500">
              <a:spcAft>
                <a:spcPts val="600"/>
              </a:spcAft>
              <a:buSzPct val="100000"/>
              <a:buChar char="–"/>
            </a:pPr>
            <a:r>
              <a:rPr lang="en-US" sz="1300" dirty="0">
                <a:solidFill>
                  <a:srgbClr val="455A64"/>
                </a:solidFill>
                <a:latin typeface="Arial" pitchFamily="34" charset="0"/>
                <a:ea typeface="Arial" pitchFamily="34" charset="-122"/>
                <a:cs typeface="Arial" pitchFamily="34" charset="-120"/>
              </a:rPr>
              <a:t>E7 vs E1 → p = 1.000     E9 vs E5 → p = 1.000     E8 vs E3 → p = 0.222</a:t>
            </a:r>
            <a:endParaRPr lang="en-US" sz="1400" dirty="0"/>
          </a:p>
          <a:p>
            <a:pPr indent="0" marL="0">
              <a:spcAft>
                <a:spcPts val="600"/>
              </a:spcAft>
              <a:buNone/>
            </a:pPr>
            <a:r>
              <a:rPr lang="en-US" sz="600" dirty="0">
                <a:solidFill>
                  <a:srgbClr val="263238"/>
                </a:solidFill>
                <a:latin typeface="Arial" pitchFamily="34" charset="0"/>
                <a:ea typeface="Arial" pitchFamily="34" charset="-122"/>
                <a:cs typeface="Arial" pitchFamily="34" charset="-120"/>
              </a:rPr>
              <a:t> </a:t>
            </a:r>
            <a:endParaRPr lang="en-US" sz="1400" dirty="0"/>
          </a:p>
          <a:p>
            <a:pPr marL="342900" indent="-342900">
              <a:spcAft>
                <a:spcPts val="600"/>
              </a:spcAft>
              <a:buSzPct val="100000"/>
              <a:buChar char="•"/>
            </a:pPr>
            <a:r>
              <a:rPr lang="en-US" sz="1400" dirty="0">
                <a:solidFill>
                  <a:srgbClr val="263238"/>
                </a:solidFill>
                <a:latin typeface="Arial" pitchFamily="34" charset="0"/>
                <a:ea typeface="Arial" pitchFamily="34" charset="-122"/>
                <a:cs typeface="Arial" pitchFamily="34" charset="-120"/>
              </a:rPr>
              <a:t>E11's advantage traces to the 300px input, not to the architecture</a:t>
            </a:r>
            <a:endParaRPr lang="en-US" sz="1400" dirty="0"/>
          </a:p>
          <a:p>
            <a:pPr lvl="1" marL="381000" indent="-190500">
              <a:spcAft>
                <a:spcPts val="600"/>
              </a:spcAft>
              <a:buSzPct val="100000"/>
              <a:buChar char="–"/>
            </a:pPr>
            <a:r>
              <a:rPr lang="en-US" sz="1300" dirty="0">
                <a:solidFill>
                  <a:srgbClr val="455A64"/>
                </a:solidFill>
                <a:latin typeface="Arial" pitchFamily="34" charset="0"/>
                <a:ea typeface="Arial" pitchFamily="34" charset="-122"/>
                <a:cs typeface="Arial" pitchFamily="34" charset="-120"/>
              </a:rPr>
              <a:t>E8 → E11 is the only significant resolution effect in the ablation</a:t>
            </a:r>
            <a:endParaRPr lang="en-US" sz="1400" dirty="0"/>
          </a:p>
          <a:p>
            <a:pPr indent="0" marL="0">
              <a:spcAft>
                <a:spcPts val="600"/>
              </a:spcAft>
              <a:buNone/>
            </a:pPr>
            <a:r>
              <a:rPr lang="en-US" sz="600" dirty="0">
                <a:solidFill>
                  <a:srgbClr val="263238"/>
                </a:solidFill>
                <a:latin typeface="Arial" pitchFamily="34" charset="0"/>
                <a:ea typeface="Arial" pitchFamily="34" charset="-122"/>
                <a:cs typeface="Arial" pitchFamily="34" charset="-120"/>
              </a:rPr>
              <a:t> </a:t>
            </a:r>
            <a:endParaRPr lang="en-US" sz="1400" dirty="0"/>
          </a:p>
          <a:p>
            <a:pPr marL="342900" indent="-342900">
              <a:spcAft>
                <a:spcPts val="600"/>
              </a:spcAft>
              <a:buSzPct val="100000"/>
              <a:buChar char="•"/>
            </a:pPr>
            <a:r>
              <a:rPr lang="en-US" sz="1400" dirty="0">
                <a:solidFill>
                  <a:srgbClr val="263238"/>
                </a:solidFill>
                <a:latin typeface="Arial" pitchFamily="34" charset="0"/>
                <a:ea typeface="Arial" pitchFamily="34" charset="-122"/>
                <a:cs typeface="Arial" pitchFamily="34" charset="-120"/>
              </a:rPr>
              <a:t>And that input costs 8.9x MobileNetV2's inference time on ARM, at 4.8x the disk</a:t>
            </a:r>
            <a:endParaRPr lang="en-US" sz="1400" dirty="0"/>
          </a:p>
        </p:txBody>
      </p:sp>
      <p:sp>
        <p:nvSpPr>
          <p:cNvPr id="8" name="Shape 5"/>
          <p:cNvSpPr/>
          <p:nvPr/>
        </p:nvSpPr>
        <p:spPr>
          <a:xfrm>
            <a:off x="411480" y="5586984"/>
            <a:ext cx="11338560" cy="676656"/>
          </a:xfrm>
          <a:prstGeom prst="rect">
            <a:avLst/>
          </a:prstGeom>
          <a:solidFill>
            <a:srgbClr val="F5F5F5"/>
          </a:solidFill>
          <a:ln w="12700">
            <a:solidFill>
              <a:srgbClr val="E0E0E0"/>
            </a:solidFill>
            <a:prstDash val="solid"/>
          </a:ln>
        </p:spPr>
      </p:sp>
      <p:sp>
        <p:nvSpPr>
          <p:cNvPr id="9" name="Text 6"/>
          <p:cNvSpPr/>
          <p:nvPr/>
        </p:nvSpPr>
        <p:spPr>
          <a:xfrm>
            <a:off x="594360" y="5586984"/>
            <a:ext cx="10972800" cy="676656"/>
          </a:xfrm>
          <a:prstGeom prst="rect">
            <a:avLst/>
          </a:prstGeom>
          <a:noFill/>
          <a:ln/>
        </p:spPr>
        <p:txBody>
          <a:bodyPr wrap="square" rtlCol="0" anchor="ctr"/>
          <a:lstStyle/>
          <a:p>
            <a:pPr indent="0" marL="0">
              <a:buNone/>
            </a:pPr>
            <a:r>
              <a:rPr lang="en-US" sz="1200" b="1" i="1" dirty="0">
                <a:solidFill>
                  <a:srgbClr val="0D1B2A"/>
                </a:solidFill>
                <a:latin typeface="Arial" pitchFamily="34" charset="0"/>
                <a:ea typeface="Arial" pitchFamily="34" charset="-122"/>
                <a:cs typeface="Arial" pitchFamily="34" charset="-120"/>
              </a:rPr>
              <a:t>The honest position: </a:t>
            </a:r>
            <a:pPr indent="0" marL="0">
              <a:buNone/>
            </a:pPr>
            <a:r>
              <a:rPr lang="en-US" sz="1200" i="1" dirty="0">
                <a:solidFill>
                  <a:srgbClr val="0D1B2A"/>
                </a:solidFill>
                <a:latin typeface="Arial" pitchFamily="34" charset="0"/>
                <a:ea typeface="Arial" pitchFamily="34" charset="-122"/>
                <a:cs typeface="Arial" pitchFamily="34" charset="-120"/>
              </a:rPr>
              <a:t>For a server-side deployment, B3 at 300px is the right choice and I would say so. For the offline mobile setting this thesis is about, it answers a different question well. RQ1 is defined over E1–E6 only, so the ablation does not displace it.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D1B2A"/>
          </a:solidFill>
          <a:ln w="12700">
            <a:solidFill>
              <a:srgbClr val="0D1B2A"/>
            </a:solidFill>
            <a:prstDash val="solid"/>
          </a:ln>
        </p:spPr>
      </p:sp>
      <p:sp>
        <p:nvSpPr>
          <p:cNvPr id="3" name="Text 1"/>
          <p:cNvSpPr/>
          <p:nvPr/>
        </p:nvSpPr>
        <p:spPr>
          <a:xfrm>
            <a:off x="320040" y="54864"/>
            <a:ext cx="9875520" cy="219456"/>
          </a:xfrm>
          <a:prstGeom prst="rect">
            <a:avLst/>
          </a:prstGeom>
          <a:noFill/>
          <a:ln/>
        </p:spPr>
        <p:txBody>
          <a:bodyPr wrap="square" rtlCol="0" anchor="ctr"/>
          <a:lstStyle/>
          <a:p>
            <a:pPr indent="0" marL="0">
              <a:buNone/>
            </a:pPr>
            <a:r>
              <a:rPr lang="en-US" sz="1000" b="1" spc="100" kern="0" dirty="0">
                <a:solidFill>
                  <a:srgbClr val="D54407"/>
                </a:solidFill>
                <a:latin typeface="Arial" pitchFamily="34" charset="0"/>
                <a:ea typeface="Arial" pitchFamily="34" charset="-122"/>
                <a:cs typeface="Arial" pitchFamily="34" charset="-120"/>
              </a:rPr>
              <a:t>ABLATION</a:t>
            </a:r>
            <a:endParaRPr lang="en-US" sz="1000" dirty="0"/>
          </a:p>
        </p:txBody>
      </p:sp>
      <p:sp>
        <p:nvSpPr>
          <p:cNvPr id="4" name="Text 2"/>
          <p:cNvSpPr/>
          <p:nvPr/>
        </p:nvSpPr>
        <p:spPr>
          <a:xfrm>
            <a:off x="320040" y="256032"/>
            <a:ext cx="9875520" cy="384048"/>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Does the Native Resolution Explain It?</a:t>
            </a:r>
            <a:endParaRPr lang="en-US" sz="2100" dirty="0"/>
          </a:p>
        </p:txBody>
      </p:sp>
      <p:pic>
        <p:nvPicPr>
          <p:cNvPr id="5" name="Image 0" descr="/Users/rajakarthikchirumamilla/Desktop/ham10000-cnn-comparison/presentation/logo.png">    </p:cNvPr>
          <p:cNvPicPr>
            <a:picLocks noChangeAspect="1"/>
          </p:cNvPicPr>
          <p:nvPr/>
        </p:nvPicPr>
        <p:blipFill>
          <a:blip r:embed="rId1"/>
          <a:stretch>
            <a:fillRect/>
          </a:stretch>
        </p:blipFill>
        <p:spPr>
          <a:xfrm>
            <a:off x="11109960" y="73152"/>
            <a:ext cx="914400" cy="502920"/>
          </a:xfrm>
          <a:prstGeom prst="rect">
            <a:avLst/>
          </a:prstGeom>
        </p:spPr>
      </p:pic>
      <p:sp>
        <p:nvSpPr>
          <p:cNvPr id="6"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17/27</a:t>
            </a:r>
            <a:endParaRPr lang="en-US" sz="1000" dirty="0"/>
          </a:p>
        </p:txBody>
      </p:sp>
      <p:pic>
        <p:nvPicPr>
          <p:cNvPr id="7" name="Image 1" descr="/Users/rajakarthikchirumamilla/Desktop/ham10000-cnn-comparison/figures/08_resolution_ablation.pdf">    </p:cNvPr>
          <p:cNvPicPr>
            <a:picLocks noChangeAspect="1"/>
          </p:cNvPicPr>
          <p:nvPr/>
        </p:nvPicPr>
        <p:blipFill>
          <a:blip r:embed="rId2"/>
          <a:srcRect l="0" r="0" t="0" b="0"/>
          <a:stretch/>
        </p:blipFill>
        <p:spPr>
          <a:xfrm>
            <a:off x="411480" y="868680"/>
            <a:ext cx="11338560" cy="3291840"/>
          </a:xfrm>
          <a:prstGeom prst="rect">
            <a:avLst/>
          </a:prstGeom>
        </p:spPr>
      </p:pic>
      <p:sp>
        <p:nvSpPr>
          <p:cNvPr id="8" name="Shape 4"/>
          <p:cNvSpPr/>
          <p:nvPr/>
        </p:nvSpPr>
        <p:spPr>
          <a:xfrm>
            <a:off x="411480" y="5385816"/>
            <a:ext cx="11338560" cy="877824"/>
          </a:xfrm>
          <a:prstGeom prst="rect">
            <a:avLst/>
          </a:prstGeom>
          <a:solidFill>
            <a:srgbClr val="F5F5F5"/>
          </a:solidFill>
          <a:ln w="12700">
            <a:solidFill>
              <a:srgbClr val="E0E0E0"/>
            </a:solidFill>
            <a:prstDash val="solid"/>
          </a:ln>
        </p:spPr>
      </p:sp>
      <p:sp>
        <p:nvSpPr>
          <p:cNvPr id="9" name="Text 5"/>
          <p:cNvSpPr/>
          <p:nvPr/>
        </p:nvSpPr>
        <p:spPr>
          <a:xfrm>
            <a:off x="594360" y="5385816"/>
            <a:ext cx="10972800" cy="877824"/>
          </a:xfrm>
          <a:prstGeom prst="rect">
            <a:avLst/>
          </a:prstGeom>
          <a:noFill/>
          <a:ln/>
        </p:spPr>
        <p:txBody>
          <a:bodyPr wrap="square" rtlCol="0" anchor="ctr"/>
          <a:lstStyle/>
          <a:p>
            <a:pPr indent="0" marL="0">
              <a:buNone/>
            </a:pPr>
            <a:r>
              <a:rPr lang="en-US" sz="1200" b="1" i="1" dirty="0">
                <a:solidFill>
                  <a:srgbClr val="0D1B2A"/>
                </a:solidFill>
                <a:latin typeface="Arial" pitchFamily="34" charset="0"/>
                <a:ea typeface="Arial" pitchFamily="34" charset="-122"/>
                <a:cs typeface="Arial" pitchFamily="34" charset="-120"/>
              </a:rPr>
              <a:t>What this shows: </a:t>
            </a:r>
            <a:pPr indent="0" marL="0">
              <a:buNone/>
            </a:pPr>
            <a:r>
              <a:rPr lang="en-US" sz="1200" i="1" dirty="0">
                <a:solidFill>
                  <a:srgbClr val="0D1B2A"/>
                </a:solidFill>
                <a:latin typeface="Arial" pitchFamily="34" charset="0"/>
                <a:ea typeface="Arial" pitchFamily="34" charset="-122"/>
                <a:cs typeface="Arial" pitchFamily="34" charset="-120"/>
              </a:rPr>
              <a:t>224 → 300 helps in all three pairs, but by amounts differing by an order of magnitude: +0.026 under augmentation (p=0.085), +0.123 under weighted CE (p=1.9e-05), +0.010 under oversampling (p=0.190). Resolution matters for B3 only in combination with weighted cross-entropy — the highest-variance training condition in the study. Published comparisons vary architecture and resolution together and cannot separate these.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2743200"/>
            <a:ext cx="109728" cy="1188720"/>
          </a:xfrm>
          <a:prstGeom prst="rect">
            <a:avLst/>
          </a:prstGeom>
          <a:solidFill>
            <a:srgbClr val="D54407"/>
          </a:solidFill>
          <a:ln w="12700">
            <a:solidFill>
              <a:srgbClr val="D54407"/>
            </a:solidFill>
            <a:prstDash val="solid"/>
          </a:ln>
        </p:spPr>
      </p:sp>
      <p:sp>
        <p:nvSpPr>
          <p:cNvPr id="3" name="Text 1"/>
          <p:cNvSpPr/>
          <p:nvPr/>
        </p:nvSpPr>
        <p:spPr>
          <a:xfrm>
            <a:off x="457200" y="2743200"/>
            <a:ext cx="10515600" cy="82296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What I Got Wrong</a:t>
            </a:r>
            <a:endParaRPr lang="en-US" sz="3400" dirty="0"/>
          </a:p>
        </p:txBody>
      </p:sp>
      <p:sp>
        <p:nvSpPr>
          <p:cNvPr id="4" name="Text 2"/>
          <p:cNvSpPr/>
          <p:nvPr/>
        </p:nvSpPr>
        <p:spPr>
          <a:xfrm>
            <a:off x="457200" y="3520440"/>
            <a:ext cx="10515600" cy="457200"/>
          </a:xfrm>
          <a:prstGeom prst="rect">
            <a:avLst/>
          </a:prstGeom>
          <a:noFill/>
          <a:ln/>
        </p:spPr>
        <p:txBody>
          <a:bodyPr wrap="square" rtlCol="0" anchor="ctr"/>
          <a:lstStyle/>
          <a:p>
            <a:pPr indent="0" marL="0">
              <a:buNone/>
            </a:pPr>
            <a:r>
              <a:rPr lang="en-US" sz="1500" dirty="0">
                <a:solidFill>
                  <a:srgbClr val="90A4AE"/>
                </a:solidFill>
                <a:latin typeface="Arial" pitchFamily="34" charset="0"/>
                <a:ea typeface="Arial" pitchFamily="34" charset="-122"/>
                <a:cs typeface="Arial" pitchFamily="34" charset="-120"/>
              </a:rPr>
              <a:t>Limitations found during the work</a:t>
            </a:r>
            <a:endParaRPr lang="en-US" sz="1500" dirty="0"/>
          </a:p>
        </p:txBody>
      </p:sp>
      <p:sp>
        <p:nvSpPr>
          <p:cNvPr id="5"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18/27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D1B2A"/>
          </a:solidFill>
          <a:ln w="12700">
            <a:solidFill>
              <a:srgbClr val="0D1B2A"/>
            </a:solidFill>
            <a:prstDash val="solid"/>
          </a:ln>
        </p:spPr>
      </p:sp>
      <p:sp>
        <p:nvSpPr>
          <p:cNvPr id="3" name="Text 1"/>
          <p:cNvSpPr/>
          <p:nvPr/>
        </p:nvSpPr>
        <p:spPr>
          <a:xfrm>
            <a:off x="320040" y="54864"/>
            <a:ext cx="9875520" cy="219456"/>
          </a:xfrm>
          <a:prstGeom prst="rect">
            <a:avLst/>
          </a:prstGeom>
          <a:noFill/>
          <a:ln/>
        </p:spPr>
        <p:txBody>
          <a:bodyPr wrap="square" rtlCol="0" anchor="ctr"/>
          <a:lstStyle/>
          <a:p>
            <a:pPr indent="0" marL="0">
              <a:buNone/>
            </a:pPr>
            <a:r>
              <a:rPr lang="en-US" sz="1000" b="1" spc="100" kern="0" dirty="0">
                <a:solidFill>
                  <a:srgbClr val="D54407"/>
                </a:solidFill>
                <a:latin typeface="Arial" pitchFamily="34" charset="0"/>
                <a:ea typeface="Arial" pitchFamily="34" charset="-122"/>
                <a:cs typeface="Arial" pitchFamily="34" charset="-120"/>
              </a:rPr>
              <a:t>LIMITATIONS</a:t>
            </a:r>
            <a:endParaRPr lang="en-US" sz="1000" dirty="0"/>
          </a:p>
        </p:txBody>
      </p:sp>
      <p:sp>
        <p:nvSpPr>
          <p:cNvPr id="4" name="Text 2"/>
          <p:cNvSpPr/>
          <p:nvPr/>
        </p:nvSpPr>
        <p:spPr>
          <a:xfrm>
            <a:off x="320040" y="256032"/>
            <a:ext cx="9875520" cy="384048"/>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Checkpoint Selection Chose Worse Models</a:t>
            </a:r>
            <a:endParaRPr lang="en-US" sz="2100" dirty="0"/>
          </a:p>
        </p:txBody>
      </p:sp>
      <p:pic>
        <p:nvPicPr>
          <p:cNvPr id="5" name="Image 0" descr="/Users/rajakarthikchirumamilla/Desktop/ham10000-cnn-comparison/presentation/logo.png">    </p:cNvPr>
          <p:cNvPicPr>
            <a:picLocks noChangeAspect="1"/>
          </p:cNvPicPr>
          <p:nvPr/>
        </p:nvPicPr>
        <p:blipFill>
          <a:blip r:embed="rId1"/>
          <a:stretch>
            <a:fillRect/>
          </a:stretch>
        </p:blipFill>
        <p:spPr>
          <a:xfrm>
            <a:off x="11109960" y="73152"/>
            <a:ext cx="914400" cy="502920"/>
          </a:xfrm>
          <a:prstGeom prst="rect">
            <a:avLst/>
          </a:prstGeom>
        </p:spPr>
      </p:pic>
      <p:sp>
        <p:nvSpPr>
          <p:cNvPr id="6"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19/27</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1463040" y="1005840"/>
          <a:ext cx="9235440" cy="914400"/>
        </p:xfrm>
        <a:graphic>
          <a:graphicData uri="http://schemas.openxmlformats.org/drawingml/2006/table">
            <a:tbl>
              <a:tblPr/>
              <a:tblGrid>
                <a:gridCol w="1188720"/>
                <a:gridCol w="2743200"/>
                <a:gridCol w="2103120"/>
                <a:gridCol w="2103120"/>
                <a:gridCol w="1097280"/>
              </a:tblGrid>
              <a:tr h="347472">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Exp</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Best val-loss epoch</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Macro F1 there</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Best macro F1</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Cost</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r>
              <a:tr h="347472">
                <a:tc>
                  <a:txBody>
                    <a:bodyPr/>
                    <a:lstStyle/>
                    <a:p>
                      <a:pPr algn="l" indent="0" marL="0">
                        <a:buNone/>
                      </a:pPr>
                      <a:r>
                        <a:rPr lang="en-US" sz="1150" b="1" dirty="0">
                          <a:solidFill>
                            <a:srgbClr val="263238"/>
                          </a:solidFill>
                          <a:latin typeface="Arial" pitchFamily="34" charset="0"/>
                          <a:ea typeface="Arial" pitchFamily="34" charset="-122"/>
                          <a:cs typeface="Arial" pitchFamily="34" charset="-120"/>
                        </a:rPr>
                        <a:t>E1</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238"/>
                          </a:solidFill>
                          <a:latin typeface="Arial" pitchFamily="34" charset="0"/>
                          <a:ea typeface="Arial" pitchFamily="34" charset="-122"/>
                          <a:cs typeface="Arial" pitchFamily="34" charset="-120"/>
                        </a:rPr>
                        <a:t>28</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238"/>
                          </a:solidFill>
                          <a:latin typeface="Arial" pitchFamily="34" charset="0"/>
                          <a:ea typeface="Arial" pitchFamily="34" charset="-122"/>
                          <a:cs typeface="Arial" pitchFamily="34" charset="-120"/>
                        </a:rPr>
                        <a:t>0.744</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238"/>
                          </a:solidFill>
                          <a:latin typeface="Arial" pitchFamily="34" charset="0"/>
                          <a:ea typeface="Arial" pitchFamily="34" charset="-122"/>
                          <a:cs typeface="Arial" pitchFamily="34" charset="-120"/>
                        </a:rPr>
                        <a:t>0.744</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238"/>
                          </a:solidFill>
                          <a:latin typeface="Arial" pitchFamily="34" charset="0"/>
                          <a:ea typeface="Arial" pitchFamily="34" charset="-122"/>
                          <a:cs typeface="Arial" pitchFamily="34" charset="-120"/>
                        </a:rPr>
                        <a:t>0.000</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47472">
                <a:tc>
                  <a:txBody>
                    <a:bodyPr/>
                    <a:lstStyle/>
                    <a:p>
                      <a:pPr algn="l" indent="0" marL="0">
                        <a:buNone/>
                      </a:pPr>
                      <a:r>
                        <a:rPr lang="en-US" sz="1150" b="1" dirty="0">
                          <a:solidFill>
                            <a:srgbClr val="263238"/>
                          </a:solidFill>
                          <a:latin typeface="Arial" pitchFamily="34" charset="0"/>
                          <a:ea typeface="Arial" pitchFamily="34" charset="-122"/>
                          <a:cs typeface="Arial" pitchFamily="34" charset="-120"/>
                        </a:rPr>
                        <a:t>E2</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50" dirty="0">
                          <a:solidFill>
                            <a:srgbClr val="263238"/>
                          </a:solidFill>
                          <a:latin typeface="Arial" pitchFamily="34" charset="0"/>
                          <a:ea typeface="Arial" pitchFamily="34" charset="-122"/>
                          <a:cs typeface="Arial" pitchFamily="34" charset="-120"/>
                        </a:rPr>
                        <a:t>36</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50" dirty="0">
                          <a:solidFill>
                            <a:srgbClr val="263238"/>
                          </a:solidFill>
                          <a:latin typeface="Arial" pitchFamily="34" charset="0"/>
                          <a:ea typeface="Arial" pitchFamily="34" charset="-122"/>
                          <a:cs typeface="Arial" pitchFamily="34" charset="-120"/>
                        </a:rPr>
                        <a:t>0.640</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50" dirty="0">
                          <a:solidFill>
                            <a:srgbClr val="263238"/>
                          </a:solidFill>
                          <a:latin typeface="Arial" pitchFamily="34" charset="0"/>
                          <a:ea typeface="Arial" pitchFamily="34" charset="-122"/>
                          <a:cs typeface="Arial" pitchFamily="34" charset="-120"/>
                        </a:rPr>
                        <a:t>0.672</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50" dirty="0">
                          <a:solidFill>
                            <a:srgbClr val="263238"/>
                          </a:solidFill>
                          <a:latin typeface="Arial" pitchFamily="34" charset="0"/>
                          <a:ea typeface="Arial" pitchFamily="34" charset="-122"/>
                          <a:cs typeface="Arial" pitchFamily="34" charset="-120"/>
                        </a:rPr>
                        <a:t>0.032</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347472">
                <a:tc>
                  <a:txBody>
                    <a:bodyPr/>
                    <a:lstStyle/>
                    <a:p>
                      <a:pPr algn="l" indent="0" marL="0">
                        <a:buNone/>
                      </a:pPr>
                      <a:r>
                        <a:rPr lang="en-US" sz="1150" b="1" dirty="0">
                          <a:solidFill>
                            <a:srgbClr val="263238"/>
                          </a:solidFill>
                          <a:latin typeface="Arial" pitchFamily="34" charset="0"/>
                          <a:ea typeface="Arial" pitchFamily="34" charset="-122"/>
                          <a:cs typeface="Arial" pitchFamily="34" charset="-120"/>
                        </a:rPr>
                        <a:t>E3</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238"/>
                          </a:solidFill>
                          <a:latin typeface="Arial" pitchFamily="34" charset="0"/>
                          <a:ea typeface="Arial" pitchFamily="34" charset="-122"/>
                          <a:cs typeface="Arial" pitchFamily="34" charset="-120"/>
                        </a:rPr>
                        <a:t>24</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238"/>
                          </a:solidFill>
                          <a:latin typeface="Arial" pitchFamily="34" charset="0"/>
                          <a:ea typeface="Arial" pitchFamily="34" charset="-122"/>
                          <a:cs typeface="Arial" pitchFamily="34" charset="-120"/>
                        </a:rPr>
                        <a:t>0.613</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238"/>
                          </a:solidFill>
                          <a:latin typeface="Arial" pitchFamily="34" charset="0"/>
                          <a:ea typeface="Arial" pitchFamily="34" charset="-122"/>
                          <a:cs typeface="Arial" pitchFamily="34" charset="-120"/>
                        </a:rPr>
                        <a:t>0.650</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238"/>
                          </a:solidFill>
                          <a:latin typeface="Arial" pitchFamily="34" charset="0"/>
                          <a:ea typeface="Arial" pitchFamily="34" charset="-122"/>
                          <a:cs typeface="Arial" pitchFamily="34" charset="-120"/>
                        </a:rPr>
                        <a:t>0.038</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47472">
                <a:tc>
                  <a:txBody>
                    <a:bodyPr/>
                    <a:lstStyle/>
                    <a:p>
                      <a:pPr algn="l" indent="0" marL="0">
                        <a:buNone/>
                      </a:pPr>
                      <a:r>
                        <a:rPr lang="en-US" sz="1150" b="1" dirty="0">
                          <a:solidFill>
                            <a:srgbClr val="263238"/>
                          </a:solidFill>
                          <a:latin typeface="Arial" pitchFamily="34" charset="0"/>
                          <a:ea typeface="Arial" pitchFamily="34" charset="-122"/>
                          <a:cs typeface="Arial" pitchFamily="34" charset="-120"/>
                        </a:rPr>
                        <a:t>E4</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50" b="1" dirty="0">
                          <a:solidFill>
                            <a:srgbClr val="263238"/>
                          </a:solidFill>
                          <a:latin typeface="Arial" pitchFamily="34" charset="0"/>
                          <a:ea typeface="Arial" pitchFamily="34" charset="-122"/>
                          <a:cs typeface="Arial" pitchFamily="34" charset="-120"/>
                        </a:rPr>
                        <a:t>46</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50" b="1" dirty="0">
                          <a:solidFill>
                            <a:srgbClr val="263238"/>
                          </a:solidFill>
                          <a:latin typeface="Arial" pitchFamily="34" charset="0"/>
                          <a:ea typeface="Arial" pitchFamily="34" charset="-122"/>
                          <a:cs typeface="Arial" pitchFamily="34" charset="-120"/>
                        </a:rPr>
                        <a:t>0.511</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50" b="1" dirty="0">
                          <a:solidFill>
                            <a:srgbClr val="263238"/>
                          </a:solidFill>
                          <a:latin typeface="Arial" pitchFamily="34" charset="0"/>
                          <a:ea typeface="Arial" pitchFamily="34" charset="-122"/>
                          <a:cs typeface="Arial" pitchFamily="34" charset="-120"/>
                        </a:rPr>
                        <a:t>0.571</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50" b="1" dirty="0">
                          <a:solidFill>
                            <a:srgbClr val="263238"/>
                          </a:solidFill>
                          <a:latin typeface="Arial" pitchFamily="34" charset="0"/>
                          <a:ea typeface="Arial" pitchFamily="34" charset="-122"/>
                          <a:cs typeface="Arial" pitchFamily="34" charset="-120"/>
                        </a:rPr>
                        <a:t>0.059</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47472">
                <a:tc>
                  <a:txBody>
                    <a:bodyPr/>
                    <a:lstStyle/>
                    <a:p>
                      <a:pPr algn="l" indent="0" marL="0">
                        <a:buNone/>
                      </a:pPr>
                      <a:r>
                        <a:rPr lang="en-US" sz="1150" b="1" dirty="0">
                          <a:solidFill>
                            <a:srgbClr val="263238"/>
                          </a:solidFill>
                          <a:latin typeface="Arial" pitchFamily="34" charset="0"/>
                          <a:ea typeface="Arial" pitchFamily="34" charset="-122"/>
                          <a:cs typeface="Arial" pitchFamily="34" charset="-120"/>
                        </a:rPr>
                        <a:t>E5</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238"/>
                          </a:solidFill>
                          <a:latin typeface="Arial" pitchFamily="34" charset="0"/>
                          <a:ea typeface="Arial" pitchFamily="34" charset="-122"/>
                          <a:cs typeface="Arial" pitchFamily="34" charset="-120"/>
                        </a:rPr>
                        <a:t>20</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238"/>
                          </a:solidFill>
                          <a:latin typeface="Arial" pitchFamily="34" charset="0"/>
                          <a:ea typeface="Arial" pitchFamily="34" charset="-122"/>
                          <a:cs typeface="Arial" pitchFamily="34" charset="-120"/>
                        </a:rPr>
                        <a:t>0.721</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238"/>
                          </a:solidFill>
                          <a:latin typeface="Arial" pitchFamily="34" charset="0"/>
                          <a:ea typeface="Arial" pitchFamily="34" charset="-122"/>
                          <a:cs typeface="Arial" pitchFamily="34" charset="-120"/>
                        </a:rPr>
                        <a:t>0.724</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238"/>
                          </a:solidFill>
                          <a:latin typeface="Arial" pitchFamily="34" charset="0"/>
                          <a:ea typeface="Arial" pitchFamily="34" charset="-122"/>
                          <a:cs typeface="Arial" pitchFamily="34" charset="-120"/>
                        </a:rPr>
                        <a:t>0.003</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47472">
                <a:tc>
                  <a:txBody>
                    <a:bodyPr/>
                    <a:lstStyle/>
                    <a:p>
                      <a:pPr algn="l" indent="0" marL="0">
                        <a:buNone/>
                      </a:pPr>
                      <a:r>
                        <a:rPr lang="en-US" sz="1150" b="1" dirty="0">
                          <a:solidFill>
                            <a:srgbClr val="263238"/>
                          </a:solidFill>
                          <a:latin typeface="Arial" pitchFamily="34" charset="0"/>
                          <a:ea typeface="Arial" pitchFamily="34" charset="-122"/>
                          <a:cs typeface="Arial" pitchFamily="34" charset="-120"/>
                        </a:rPr>
                        <a:t>E6</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50" b="1" dirty="0">
                          <a:solidFill>
                            <a:srgbClr val="263238"/>
                          </a:solidFill>
                          <a:latin typeface="Arial" pitchFamily="34" charset="0"/>
                          <a:ea typeface="Arial" pitchFamily="34" charset="-122"/>
                          <a:cs typeface="Arial" pitchFamily="34" charset="-120"/>
                        </a:rPr>
                        <a:t>6</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50" b="1" dirty="0">
                          <a:solidFill>
                            <a:srgbClr val="263238"/>
                          </a:solidFill>
                          <a:latin typeface="Arial" pitchFamily="34" charset="0"/>
                          <a:ea typeface="Arial" pitchFamily="34" charset="-122"/>
                          <a:cs typeface="Arial" pitchFamily="34" charset="-120"/>
                        </a:rPr>
                        <a:t>0.534</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50" b="1" dirty="0">
                          <a:solidFill>
                            <a:srgbClr val="263238"/>
                          </a:solidFill>
                          <a:latin typeface="Arial" pitchFamily="34" charset="0"/>
                          <a:ea typeface="Arial" pitchFamily="34" charset="-122"/>
                          <a:cs typeface="Arial" pitchFamily="34" charset="-120"/>
                        </a:rPr>
                        <a:t>0.601</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50" b="1" dirty="0">
                          <a:solidFill>
                            <a:srgbClr val="263238"/>
                          </a:solidFill>
                          <a:latin typeface="Arial" pitchFamily="34" charset="0"/>
                          <a:ea typeface="Arial" pitchFamily="34" charset="-122"/>
                          <a:cs typeface="Arial" pitchFamily="34" charset="-120"/>
                        </a:rPr>
                        <a:t>0.067</a:t>
                      </a:r>
                      <a:endParaRPr lang="en-US" sz="11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8" name="Shape 4"/>
          <p:cNvSpPr/>
          <p:nvPr/>
        </p:nvSpPr>
        <p:spPr>
          <a:xfrm>
            <a:off x="411480" y="5385816"/>
            <a:ext cx="11338560" cy="877824"/>
          </a:xfrm>
          <a:prstGeom prst="rect">
            <a:avLst/>
          </a:prstGeom>
          <a:solidFill>
            <a:srgbClr val="F5F5F5"/>
          </a:solidFill>
          <a:ln w="12700">
            <a:solidFill>
              <a:srgbClr val="E0E0E0"/>
            </a:solidFill>
            <a:prstDash val="solid"/>
          </a:ln>
        </p:spPr>
      </p:sp>
      <p:sp>
        <p:nvSpPr>
          <p:cNvPr id="9" name="Text 5"/>
          <p:cNvSpPr/>
          <p:nvPr/>
        </p:nvSpPr>
        <p:spPr>
          <a:xfrm>
            <a:off x="594360" y="5385816"/>
            <a:ext cx="10972800" cy="877824"/>
          </a:xfrm>
          <a:prstGeom prst="rect">
            <a:avLst/>
          </a:prstGeom>
          <a:noFill/>
          <a:ln/>
        </p:spPr>
        <p:txBody>
          <a:bodyPr wrap="square" rtlCol="0" anchor="ctr"/>
          <a:lstStyle/>
          <a:p>
            <a:pPr indent="0" marL="0">
              <a:buNone/>
            </a:pPr>
            <a:r>
              <a:rPr lang="en-US" sz="1200" b="1" i="1" dirty="0">
                <a:solidFill>
                  <a:srgbClr val="0D1B2A"/>
                </a:solidFill>
                <a:latin typeface="Arial" pitchFamily="34" charset="0"/>
                <a:ea typeface="Arial" pitchFamily="34" charset="-122"/>
                <a:cs typeface="Arial" pitchFamily="34" charset="-120"/>
              </a:rPr>
              <a:t>What this shows: </a:t>
            </a:r>
            <a:pPr indent="0" marL="0">
              <a:buNone/>
            </a:pPr>
            <a:r>
              <a:rPr lang="en-US" sz="1200" i="1" dirty="0">
                <a:solidFill>
                  <a:srgbClr val="0D1B2A"/>
                </a:solidFill>
                <a:latin typeface="Arial" pitchFamily="34" charset="0"/>
                <a:ea typeface="Arial" pitchFamily="34" charset="-122"/>
                <a:cs typeface="Arial" pitchFamily="34" charset="-120"/>
              </a:rPr>
              <a:t>The protocol stops on validation loss but reports macro F1, and they do not peak at the same epoch. The cost reaches 0.067 — and falls on ResNet-50, the architecture this thesis concludes against, because a noisy loss curve has an arbitrary argmin. I did not change the rule after finding this: doing so mid-study, having seen which runs it disadvantaged, would be the worse error. It is the first item of future work.</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D1B2A"/>
          </a:solidFill>
          <a:ln w="12700">
            <a:solidFill>
              <a:srgbClr val="0D1B2A"/>
            </a:solidFill>
            <a:prstDash val="solid"/>
          </a:ln>
        </p:spPr>
      </p:sp>
      <p:sp>
        <p:nvSpPr>
          <p:cNvPr id="3" name="Text 1"/>
          <p:cNvSpPr/>
          <p:nvPr/>
        </p:nvSpPr>
        <p:spPr>
          <a:xfrm>
            <a:off x="320040" y="54864"/>
            <a:ext cx="9875520" cy="219456"/>
          </a:xfrm>
          <a:prstGeom prst="rect">
            <a:avLst/>
          </a:prstGeom>
          <a:noFill/>
          <a:ln/>
        </p:spPr>
        <p:txBody>
          <a:bodyPr wrap="square" rtlCol="0" anchor="ctr"/>
          <a:lstStyle/>
          <a:p>
            <a:pPr indent="0" marL="0">
              <a:buNone/>
            </a:pPr>
            <a:r>
              <a:rPr lang="en-US" sz="1000" b="1" spc="100" kern="0" dirty="0">
                <a:solidFill>
                  <a:srgbClr val="D54407"/>
                </a:solidFill>
                <a:latin typeface="Arial" pitchFamily="34" charset="0"/>
                <a:ea typeface="Arial" pitchFamily="34" charset="-122"/>
                <a:cs typeface="Arial" pitchFamily="34" charset="-120"/>
              </a:rPr>
              <a:t>LIMITATIONS</a:t>
            </a:r>
            <a:endParaRPr lang="en-US" sz="1000" dirty="0"/>
          </a:p>
        </p:txBody>
      </p:sp>
      <p:sp>
        <p:nvSpPr>
          <p:cNvPr id="4" name="Text 2"/>
          <p:cNvSpPr/>
          <p:nvPr/>
        </p:nvSpPr>
        <p:spPr>
          <a:xfrm>
            <a:off x="320040" y="256032"/>
            <a:ext cx="9875520" cy="384048"/>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Limitations I Would Raise Before You Do</a:t>
            </a:r>
            <a:endParaRPr lang="en-US" sz="2100" dirty="0"/>
          </a:p>
        </p:txBody>
      </p:sp>
      <p:pic>
        <p:nvPicPr>
          <p:cNvPr id="5" name="Image 0" descr="/Users/rajakarthikchirumamilla/Desktop/ham10000-cnn-comparison/presentation/logo.png">    </p:cNvPr>
          <p:cNvPicPr>
            <a:picLocks noChangeAspect="1"/>
          </p:cNvPicPr>
          <p:nvPr/>
        </p:nvPicPr>
        <p:blipFill>
          <a:blip r:embed="rId1"/>
          <a:stretch>
            <a:fillRect/>
          </a:stretch>
        </p:blipFill>
        <p:spPr>
          <a:xfrm>
            <a:off x="11109960" y="73152"/>
            <a:ext cx="914400" cy="502920"/>
          </a:xfrm>
          <a:prstGeom prst="rect">
            <a:avLst/>
          </a:prstGeom>
        </p:spPr>
      </p:pic>
      <p:sp>
        <p:nvSpPr>
          <p:cNvPr id="6"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20/27</a:t>
            </a:r>
            <a:endParaRPr lang="en-US" sz="1000" dirty="0"/>
          </a:p>
        </p:txBody>
      </p:sp>
      <p:sp>
        <p:nvSpPr>
          <p:cNvPr id="7" name="Text 4"/>
          <p:cNvSpPr/>
          <p:nvPr/>
        </p:nvSpPr>
        <p:spPr>
          <a:xfrm>
            <a:off x="411480" y="868680"/>
            <a:ext cx="11338560" cy="4023360"/>
          </a:xfrm>
          <a:prstGeom prst="rect">
            <a:avLst/>
          </a:prstGeom>
          <a:noFill/>
          <a:ln/>
        </p:spPr>
        <p:txBody>
          <a:bodyPr wrap="square" rtlCol="0" anchor="t"/>
          <a:lstStyle/>
          <a:p>
            <a:pPr marL="342900" indent="-342900">
              <a:spcAft>
                <a:spcPts val="600"/>
              </a:spcAft>
              <a:buSzPct val="100000"/>
              <a:buChar char="•"/>
            </a:pPr>
            <a:r>
              <a:rPr lang="en-US" sz="1350" dirty="0">
                <a:solidFill>
                  <a:srgbClr val="263238"/>
                </a:solidFill>
                <a:latin typeface="Arial" pitchFamily="34" charset="0"/>
                <a:ea typeface="Arial" pitchFamily="34" charset="-122"/>
                <a:cs typeface="Arial" pitchFamily="34" charset="-120"/>
              </a:rPr>
              <a:t>Single seed per configuration — the largest weakness. McNemar compares two trained models, not two configurations in expectation</a:t>
            </a:r>
            <a:endParaRPr lang="en-US" sz="1350" dirty="0"/>
          </a:p>
          <a:p>
            <a:pPr marL="342900" indent="-342900">
              <a:spcAft>
                <a:spcPts val="600"/>
              </a:spcAft>
              <a:buSzPct val="100000"/>
              <a:buChar char="•"/>
            </a:pPr>
            <a:r>
              <a:rPr lang="en-US" sz="1350" dirty="0">
                <a:solidFill>
                  <a:srgbClr val="263238"/>
                </a:solidFill>
                <a:latin typeface="Arial" pitchFamily="34" charset="0"/>
                <a:ea typeface="Arial" pitchFamily="34" charset="-122"/>
                <a:cs typeface="Arial" pitchFamily="34" charset="-120"/>
              </a:rPr>
              <a:t>E4 never converged: it exhausted the 50-epoch ceiling and is reported as an unconverged run</a:t>
            </a:r>
            <a:endParaRPr lang="en-US" sz="1350" dirty="0"/>
          </a:p>
          <a:p>
            <a:pPr marL="342900" indent="-342900">
              <a:spcAft>
                <a:spcPts val="600"/>
              </a:spcAft>
              <a:buSzPct val="100000"/>
              <a:buChar char="•"/>
            </a:pPr>
            <a:r>
              <a:rPr lang="en-US" sz="1350" dirty="0">
                <a:solidFill>
                  <a:srgbClr val="263238"/>
                </a:solidFill>
                <a:latin typeface="Arial" pitchFamily="34" charset="0"/>
                <a:ea typeface="Arial" pitchFamily="34" charset="-122"/>
                <a:cs typeface="Arial" pitchFamily="34" charset="-120"/>
              </a:rPr>
              <a:t>Dropout is unmatched (0.2 / none / 0.3), inherited from the reference implementations, and favours the models I conclude for</a:t>
            </a:r>
            <a:endParaRPr lang="en-US" sz="1350" dirty="0"/>
          </a:p>
          <a:p>
            <a:pPr marL="342900" indent="-342900">
              <a:spcAft>
                <a:spcPts val="600"/>
              </a:spcAft>
              <a:buSzPct val="100000"/>
              <a:buChar char="•"/>
            </a:pPr>
            <a:r>
              <a:rPr lang="en-US" sz="1350" dirty="0">
                <a:solidFill>
                  <a:srgbClr val="263238"/>
                </a:solidFill>
                <a:latin typeface="Arial" pitchFamily="34" charset="0"/>
                <a:ea typeface="Arial" pitchFamily="34" charset="-122"/>
                <a:cs typeface="Arial" pitchFamily="34" charset="-120"/>
              </a:rPr>
              <a:t>No weight decay or LR schedule — uniform, so not a confound, but the likely cause of ResNet-50's instability</a:t>
            </a:r>
            <a:endParaRPr lang="en-US" sz="1350" dirty="0"/>
          </a:p>
          <a:p>
            <a:pPr marL="342900" indent="-342900">
              <a:spcAft>
                <a:spcPts val="600"/>
              </a:spcAft>
              <a:buSzPct val="100000"/>
              <a:buChar char="•"/>
            </a:pPr>
            <a:r>
              <a:rPr lang="en-US" sz="1350" dirty="0">
                <a:solidFill>
                  <a:srgbClr val="263238"/>
                </a:solidFill>
                <a:latin typeface="Arial" pitchFamily="34" charset="0"/>
                <a:ea typeface="Arial" pitchFamily="34" charset="-122"/>
                <a:cs typeface="Arial" pitchFamily="34" charset="-120"/>
              </a:rPr>
              <a:t>DF has 13 test images: one prediction moves its recall by 7.7 points</a:t>
            </a:r>
            <a:endParaRPr lang="en-US" sz="1350" dirty="0"/>
          </a:p>
          <a:p>
            <a:pPr marL="342900" indent="-342900">
              <a:spcAft>
                <a:spcPts val="600"/>
              </a:spcAft>
              <a:buSzPct val="100000"/>
              <a:buChar char="•"/>
            </a:pPr>
            <a:r>
              <a:rPr lang="en-US" sz="1350" dirty="0">
                <a:solidFill>
                  <a:srgbClr val="263238"/>
                </a:solidFill>
                <a:latin typeface="Arial" pitchFamily="34" charset="0"/>
                <a:ea typeface="Arial" pitchFamily="34" charset="-122"/>
                <a:cs typeface="Arial" pitchFamily="34" charset="-120"/>
              </a:rPr>
              <a:t>HAM10000 carries no Fitzpatrick data, so nothing here speaks to performance across skin tones</a:t>
            </a:r>
            <a:endParaRPr lang="en-US" sz="1350" dirty="0"/>
          </a:p>
        </p:txBody>
      </p:sp>
      <p:sp>
        <p:nvSpPr>
          <p:cNvPr id="8" name="Shape 5"/>
          <p:cNvSpPr/>
          <p:nvPr/>
        </p:nvSpPr>
        <p:spPr>
          <a:xfrm>
            <a:off x="411480" y="5586984"/>
            <a:ext cx="11338560" cy="676656"/>
          </a:xfrm>
          <a:prstGeom prst="rect">
            <a:avLst/>
          </a:prstGeom>
          <a:solidFill>
            <a:srgbClr val="F5F5F5"/>
          </a:solidFill>
          <a:ln w="12700">
            <a:solidFill>
              <a:srgbClr val="E0E0E0"/>
            </a:solidFill>
            <a:prstDash val="solid"/>
          </a:ln>
        </p:spPr>
      </p:sp>
      <p:sp>
        <p:nvSpPr>
          <p:cNvPr id="9" name="Text 6"/>
          <p:cNvSpPr/>
          <p:nvPr/>
        </p:nvSpPr>
        <p:spPr>
          <a:xfrm>
            <a:off x="594360" y="5586984"/>
            <a:ext cx="10972800" cy="676656"/>
          </a:xfrm>
          <a:prstGeom prst="rect">
            <a:avLst/>
          </a:prstGeom>
          <a:noFill/>
          <a:ln/>
        </p:spPr>
        <p:txBody>
          <a:bodyPr wrap="square" rtlCol="0" anchor="ctr"/>
          <a:lstStyle/>
          <a:p>
            <a:pPr indent="0" marL="0">
              <a:buNone/>
            </a:pPr>
            <a:r>
              <a:rPr lang="en-US" sz="1200" b="1" i="1" dirty="0">
                <a:solidFill>
                  <a:srgbClr val="0D1B2A"/>
                </a:solidFill>
                <a:latin typeface="Arial" pitchFamily="34" charset="0"/>
                <a:ea typeface="Arial" pitchFamily="34" charset="-122"/>
                <a:cs typeface="Arial" pitchFamily="34" charset="-120"/>
              </a:rPr>
              <a:t>The one that matters clinically: </a:t>
            </a:r>
            <a:pPr indent="0" marL="0">
              <a:buNone/>
            </a:pPr>
            <a:r>
              <a:rPr lang="en-US" sz="1200" i="1" dirty="0">
                <a:solidFill>
                  <a:srgbClr val="0D1B2A"/>
                </a:solidFill>
                <a:latin typeface="Arial" pitchFamily="34" charset="0"/>
                <a:ea typeface="Arial" pitchFamily="34" charset="-122"/>
                <a:cs typeface="Arial" pitchFamily="34" charset="-120"/>
              </a:rPr>
              <a:t>For a tool meant to widen access to screening, the skin-tone gap is a real limitation rather than a footnote, and no deployment recommendation from this work should be read as applying across skin tones until it is tested.</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D1B2A"/>
          </a:solidFill>
          <a:ln w="12700">
            <a:solidFill>
              <a:srgbClr val="0D1B2A"/>
            </a:solidFill>
            <a:prstDash val="solid"/>
          </a:ln>
        </p:spPr>
      </p:sp>
      <p:sp>
        <p:nvSpPr>
          <p:cNvPr id="3" name="Text 1"/>
          <p:cNvSpPr/>
          <p:nvPr/>
        </p:nvSpPr>
        <p:spPr>
          <a:xfrm>
            <a:off x="320040" y="109728"/>
            <a:ext cx="9875520" cy="384048"/>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Conclusion</a:t>
            </a:r>
            <a:endParaRPr lang="en-US" sz="2100" dirty="0"/>
          </a:p>
        </p:txBody>
      </p:sp>
      <p:pic>
        <p:nvPicPr>
          <p:cNvPr id="4" name="Image 0" descr="/Users/rajakarthikchirumamilla/Desktop/ham10000-cnn-comparison/presentation/logo.png">    </p:cNvPr>
          <p:cNvPicPr>
            <a:picLocks noChangeAspect="1"/>
          </p:cNvPicPr>
          <p:nvPr/>
        </p:nvPicPr>
        <p:blipFill>
          <a:blip r:embed="rId1"/>
          <a:stretch>
            <a:fillRect/>
          </a:stretch>
        </p:blipFill>
        <p:spPr>
          <a:xfrm>
            <a:off x="11109960" y="73152"/>
            <a:ext cx="914400" cy="502920"/>
          </a:xfrm>
          <a:prstGeom prst="rect">
            <a:avLst/>
          </a:prstGeom>
        </p:spPr>
      </p:pic>
      <p:sp>
        <p:nvSpPr>
          <p:cNvPr id="5" name="Text 2"/>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21/27</a:t>
            </a:r>
            <a:endParaRPr lang="en-US" sz="1000" dirty="0"/>
          </a:p>
        </p:txBody>
      </p:sp>
      <p:sp>
        <p:nvSpPr>
          <p:cNvPr id="6" name="Text 3"/>
          <p:cNvSpPr/>
          <p:nvPr/>
        </p:nvSpPr>
        <p:spPr>
          <a:xfrm>
            <a:off x="411480" y="868680"/>
            <a:ext cx="11338560" cy="3657600"/>
          </a:xfrm>
          <a:prstGeom prst="rect">
            <a:avLst/>
          </a:prstGeom>
          <a:noFill/>
          <a:ln/>
        </p:spPr>
        <p:txBody>
          <a:bodyPr wrap="square" rtlCol="0" anchor="t"/>
          <a:lstStyle/>
          <a:p>
            <a:pPr marL="342900" indent="-342900">
              <a:spcAft>
                <a:spcPts val="600"/>
              </a:spcAft>
              <a:buSzPct val="100000"/>
              <a:buChar char="•"/>
            </a:pPr>
            <a:r>
              <a:rPr lang="en-US" sz="1500" dirty="0">
                <a:solidFill>
                  <a:srgbClr val="263238"/>
                </a:solidFill>
                <a:latin typeface="Arial" pitchFamily="34" charset="0"/>
                <a:ea typeface="Arial" pitchFamily="34" charset="-122"/>
                <a:cs typeface="Arial" pitchFamily="34" charset="-120"/>
              </a:rPr>
              <a:t>RQ1 — PASSES. Melanoma F1 gap of 0.037 against a 0.05 threshold set in advance</a:t>
            </a:r>
            <a:endParaRPr lang="en-US" sz="1500" dirty="0"/>
          </a:p>
          <a:p>
            <a:pPr marL="342900" indent="-342900">
              <a:spcAft>
                <a:spcPts val="600"/>
              </a:spcAft>
              <a:buSzPct val="100000"/>
              <a:buChar char="•"/>
            </a:pPr>
            <a:r>
              <a:rPr lang="en-US" sz="1500" dirty="0">
                <a:solidFill>
                  <a:srgbClr val="263238"/>
                </a:solidFill>
                <a:latin typeface="Arial" pitchFamily="34" charset="0"/>
                <a:ea typeface="Arial" pitchFamily="34" charset="-122"/>
                <a:cs typeface="Arial" pitchFamily="34" charset="-120"/>
              </a:rPr>
              <a:t>RQ2 — The best imbalance strategy depends on the architecture it is applied to</a:t>
            </a:r>
            <a:endParaRPr lang="en-US" sz="1500" dirty="0"/>
          </a:p>
          <a:p>
            <a:pPr marL="342900" indent="-342900">
              <a:spcAft>
                <a:spcPts val="600"/>
              </a:spcAft>
              <a:buSzPct val="100000"/>
              <a:buChar char="•"/>
            </a:pPr>
            <a:r>
              <a:rPr lang="en-US" sz="1500" dirty="0">
                <a:solidFill>
                  <a:srgbClr val="263238"/>
                </a:solidFill>
                <a:latin typeface="Arial" pitchFamily="34" charset="0"/>
                <a:ea typeface="Arial" pitchFamily="34" charset="-122"/>
                <a:cs typeface="Arial" pitchFamily="34" charset="-120"/>
              </a:rPr>
              <a:t>RQ3 — MobileNetV2 is smallest, fewest parameters, and fastest on both CPUs tested</a:t>
            </a:r>
            <a:endParaRPr lang="en-US" sz="1500" dirty="0"/>
          </a:p>
          <a:p>
            <a:pPr indent="0" marL="0">
              <a:spcAft>
                <a:spcPts val="600"/>
              </a:spcAft>
              <a:buNone/>
            </a:pPr>
            <a:r>
              <a:rPr lang="en-US" sz="700" dirty="0">
                <a:solidFill>
                  <a:srgbClr val="263238"/>
                </a:solidFill>
                <a:latin typeface="Arial" pitchFamily="34" charset="0"/>
                <a:ea typeface="Arial" pitchFamily="34" charset="-122"/>
                <a:cs typeface="Arial" pitchFamily="34" charset="-120"/>
              </a:rPr>
              <a:t> </a:t>
            </a:r>
            <a:endParaRPr lang="en-US" sz="1500" dirty="0"/>
          </a:p>
          <a:p>
            <a:pPr marL="342900" indent="-342900">
              <a:spcAft>
                <a:spcPts val="600"/>
              </a:spcAft>
              <a:buSzPct val="100000"/>
              <a:buChar char="•"/>
            </a:pPr>
            <a:r>
              <a:rPr lang="en-US" sz="1500" dirty="0">
                <a:solidFill>
                  <a:srgbClr val="263238"/>
                </a:solidFill>
                <a:latin typeface="Arial" pitchFamily="34" charset="0"/>
                <a:ea typeface="Arial" pitchFamily="34" charset="-122"/>
                <a:cs typeface="Arial" pitchFamily="34" charset="-120"/>
              </a:rPr>
              <a:t>A network a tenth the size of ResNet-50 is statistically indistinguishable from it on per-image correctness under two of three strategies</a:t>
            </a:r>
            <a:endParaRPr lang="en-US" sz="1500" dirty="0"/>
          </a:p>
          <a:p>
            <a:pPr indent="0" marL="0">
              <a:spcAft>
                <a:spcPts val="600"/>
              </a:spcAft>
              <a:buNone/>
            </a:pPr>
            <a:r>
              <a:rPr lang="en-US" sz="700" dirty="0">
                <a:solidFill>
                  <a:srgbClr val="263238"/>
                </a:solidFill>
                <a:latin typeface="Arial" pitchFamily="34" charset="0"/>
                <a:ea typeface="Arial" pitchFamily="34" charset="-122"/>
                <a:cs typeface="Arial" pitchFamily="34" charset="-120"/>
              </a:rPr>
              <a:t> </a:t>
            </a:r>
            <a:endParaRPr lang="en-US" sz="1500" dirty="0"/>
          </a:p>
          <a:p>
            <a:pPr marL="342900" indent="-342900">
              <a:spcAft>
                <a:spcPts val="600"/>
              </a:spcAft>
              <a:buSzPct val="100000"/>
              <a:buChar char="•"/>
            </a:pPr>
            <a:r>
              <a:rPr lang="en-US" sz="1500" dirty="0">
                <a:solidFill>
                  <a:srgbClr val="263238"/>
                </a:solidFill>
                <a:latin typeface="Arial" pitchFamily="34" charset="0"/>
                <a:ea typeface="Arial" pitchFamily="34" charset="-122"/>
                <a:cs typeface="Arial" pitchFamily="34" charset="-120"/>
              </a:rPr>
              <a:t>The result I did not anticipate: imbalance remediation is not architecture-neutral, and the mechanism is optimisation stability rather than class frequency</a:t>
            </a:r>
            <a:endParaRPr lang="en-US" sz="1500" dirty="0"/>
          </a:p>
        </p:txBody>
      </p:sp>
      <p:sp>
        <p:nvSpPr>
          <p:cNvPr id="7" name="Shape 4"/>
          <p:cNvSpPr/>
          <p:nvPr/>
        </p:nvSpPr>
        <p:spPr>
          <a:xfrm>
            <a:off x="411480" y="5788152"/>
            <a:ext cx="11338560" cy="475488"/>
          </a:xfrm>
          <a:prstGeom prst="rect">
            <a:avLst/>
          </a:prstGeom>
          <a:solidFill>
            <a:srgbClr val="F5F5F5"/>
          </a:solidFill>
          <a:ln w="12700">
            <a:solidFill>
              <a:srgbClr val="E0E0E0"/>
            </a:solidFill>
            <a:prstDash val="solid"/>
          </a:ln>
        </p:spPr>
      </p:sp>
      <p:sp>
        <p:nvSpPr>
          <p:cNvPr id="8" name="Text 5"/>
          <p:cNvSpPr/>
          <p:nvPr/>
        </p:nvSpPr>
        <p:spPr>
          <a:xfrm>
            <a:off x="594360" y="5788152"/>
            <a:ext cx="10972800" cy="475488"/>
          </a:xfrm>
          <a:prstGeom prst="rect">
            <a:avLst/>
          </a:prstGeom>
          <a:noFill/>
          <a:ln/>
        </p:spPr>
        <p:txBody>
          <a:bodyPr wrap="square" rtlCol="0" anchor="ctr"/>
          <a:lstStyle/>
          <a:p>
            <a:pPr indent="0" marL="0">
              <a:buNone/>
            </a:pPr>
            <a:r>
              <a:rPr lang="en-US" sz="1200" b="1" i="1" dirty="0">
                <a:solidFill>
                  <a:srgbClr val="0D1B2A"/>
                </a:solidFill>
                <a:latin typeface="Arial" pitchFamily="34" charset="0"/>
                <a:ea typeface="Arial" pitchFamily="34" charset="-122"/>
                <a:cs typeface="Arial" pitchFamily="34" charset="-120"/>
              </a:rPr>
              <a:t>Why the design earned its keep: </a:t>
            </a:r>
            <a:pPr indent="0" marL="0">
              <a:buNone/>
            </a:pPr>
            <a:r>
              <a:rPr lang="en-US" sz="1200" i="1" dirty="0">
                <a:solidFill>
                  <a:srgbClr val="0D1B2A"/>
                </a:solidFill>
                <a:latin typeface="Arial" pitchFamily="34" charset="0"/>
                <a:ea typeface="Arial" pitchFamily="34" charset="-122"/>
                <a:cs typeface="Arial" pitchFamily="34" charset="-120"/>
              </a:rPr>
              <a:t>That last finding is invisible to any study varying one factor at a time. It is what the controlled factorial was for.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0" y="2377440"/>
            <a:ext cx="12191695" cy="914400"/>
          </a:xfrm>
          <a:prstGeom prst="rect">
            <a:avLst/>
          </a:prstGeom>
          <a:noFill/>
          <a:ln/>
        </p:spPr>
        <p:txBody>
          <a:bodyPr wrap="square"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Thank You</a:t>
            </a:r>
            <a:endParaRPr lang="en-US" sz="4000" dirty="0"/>
          </a:p>
        </p:txBody>
      </p:sp>
      <p:sp>
        <p:nvSpPr>
          <p:cNvPr id="3" name="Text 1"/>
          <p:cNvSpPr/>
          <p:nvPr/>
        </p:nvSpPr>
        <p:spPr>
          <a:xfrm>
            <a:off x="0" y="3291840"/>
            <a:ext cx="12191695" cy="548640"/>
          </a:xfrm>
          <a:prstGeom prst="rect">
            <a:avLst/>
          </a:prstGeom>
          <a:noFill/>
          <a:ln/>
        </p:spPr>
        <p:txBody>
          <a:bodyPr wrap="square" rtlCol="0" anchor="ctr"/>
          <a:lstStyle/>
          <a:p>
            <a:pPr algn="ctr" indent="0" marL="0">
              <a:buNone/>
            </a:pPr>
            <a:r>
              <a:rPr lang="en-US" sz="1800" dirty="0">
                <a:solidFill>
                  <a:srgbClr val="90A4AE"/>
                </a:solidFill>
                <a:latin typeface="Arial" pitchFamily="34" charset="0"/>
                <a:ea typeface="Arial" pitchFamily="34" charset="-122"/>
                <a:cs typeface="Arial" pitchFamily="34" charset="-120"/>
              </a:rPr>
              <a:t>Questions</a:t>
            </a:r>
            <a:endParaRPr lang="en-US" sz="1800" dirty="0"/>
          </a:p>
        </p:txBody>
      </p:sp>
      <p:sp>
        <p:nvSpPr>
          <p:cNvPr id="4" name="Text 2"/>
          <p:cNvSpPr/>
          <p:nvPr/>
        </p:nvSpPr>
        <p:spPr>
          <a:xfrm>
            <a:off x="0" y="5760720"/>
            <a:ext cx="12191695" cy="365760"/>
          </a:xfrm>
          <a:prstGeom prst="rect">
            <a:avLst/>
          </a:prstGeom>
          <a:noFill/>
          <a:ln/>
        </p:spPr>
        <p:txBody>
          <a:bodyPr wrap="square" rtlCol="0" anchor="ctr"/>
          <a:lstStyle/>
          <a:p>
            <a:pPr algn="ctr" indent="0" marL="0">
              <a:buNone/>
            </a:pPr>
            <a:r>
              <a:rPr lang="en-US" sz="1200" dirty="0">
                <a:solidFill>
                  <a:srgbClr val="90A4AE"/>
                </a:solidFill>
                <a:latin typeface="Arial" pitchFamily="34" charset="0"/>
                <a:ea typeface="Arial" pitchFamily="34" charset="-122"/>
                <a:cs typeface="Arial" pitchFamily="34" charset="-120"/>
              </a:rPr>
              <a:t>Theerthankar Reddy Bandarla  |  Prof. Dr. Fakhteh Ghanbarnejad · Prof. Shamli Shamli</a:t>
            </a:r>
            <a:endParaRPr lang="en-US" sz="1200" dirty="0"/>
          </a:p>
        </p:txBody>
      </p:sp>
      <p:sp>
        <p:nvSpPr>
          <p:cNvPr id="5"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22/27</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2743200"/>
            <a:ext cx="109728" cy="1188720"/>
          </a:xfrm>
          <a:prstGeom prst="rect">
            <a:avLst/>
          </a:prstGeom>
          <a:solidFill>
            <a:srgbClr val="D54407"/>
          </a:solidFill>
          <a:ln w="12700">
            <a:solidFill>
              <a:srgbClr val="D54407"/>
            </a:solidFill>
            <a:prstDash val="solid"/>
          </a:ln>
        </p:spPr>
      </p:sp>
      <p:sp>
        <p:nvSpPr>
          <p:cNvPr id="3" name="Text 1"/>
          <p:cNvSpPr/>
          <p:nvPr/>
        </p:nvSpPr>
        <p:spPr>
          <a:xfrm>
            <a:off x="457200" y="2743200"/>
            <a:ext cx="10515600" cy="82296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Backup</a:t>
            </a:r>
            <a:endParaRPr lang="en-US" sz="3400" dirty="0"/>
          </a:p>
        </p:txBody>
      </p:sp>
      <p:sp>
        <p:nvSpPr>
          <p:cNvPr id="4" name="Text 2"/>
          <p:cNvSpPr/>
          <p:nvPr/>
        </p:nvSpPr>
        <p:spPr>
          <a:xfrm>
            <a:off x="457200" y="3520440"/>
            <a:ext cx="10515600" cy="457200"/>
          </a:xfrm>
          <a:prstGeom prst="rect">
            <a:avLst/>
          </a:prstGeom>
          <a:noFill/>
          <a:ln/>
        </p:spPr>
        <p:txBody>
          <a:bodyPr wrap="square" rtlCol="0" anchor="ctr"/>
          <a:lstStyle/>
          <a:p>
            <a:pPr indent="0" marL="0">
              <a:buNone/>
            </a:pPr>
            <a:r>
              <a:rPr lang="en-US" sz="1500" dirty="0">
                <a:solidFill>
                  <a:srgbClr val="90A4AE"/>
                </a:solidFill>
                <a:latin typeface="Arial" pitchFamily="34" charset="0"/>
                <a:ea typeface="Arial" pitchFamily="34" charset="-122"/>
                <a:cs typeface="Arial" pitchFamily="34" charset="-120"/>
              </a:rPr>
              <a:t>Detail slides for questions</a:t>
            </a:r>
            <a:endParaRPr lang="en-US" sz="1500" dirty="0"/>
          </a:p>
        </p:txBody>
      </p:sp>
      <p:sp>
        <p:nvSpPr>
          <p:cNvPr id="5"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23/27</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D1B2A"/>
          </a:solidFill>
          <a:ln w="12700">
            <a:solidFill>
              <a:srgbClr val="0D1B2A"/>
            </a:solidFill>
            <a:prstDash val="solid"/>
          </a:ln>
        </p:spPr>
      </p:sp>
      <p:sp>
        <p:nvSpPr>
          <p:cNvPr id="3" name="Text 1"/>
          <p:cNvSpPr/>
          <p:nvPr/>
        </p:nvSpPr>
        <p:spPr>
          <a:xfrm>
            <a:off x="320040" y="54864"/>
            <a:ext cx="9875520" cy="219456"/>
          </a:xfrm>
          <a:prstGeom prst="rect">
            <a:avLst/>
          </a:prstGeom>
          <a:noFill/>
          <a:ln/>
        </p:spPr>
        <p:txBody>
          <a:bodyPr wrap="square" rtlCol="0" anchor="ctr"/>
          <a:lstStyle/>
          <a:p>
            <a:pPr indent="0" marL="0">
              <a:buNone/>
            </a:pPr>
            <a:r>
              <a:rPr lang="en-US" sz="1000" b="1" spc="100" kern="0" dirty="0">
                <a:solidFill>
                  <a:srgbClr val="D54407"/>
                </a:solidFill>
                <a:latin typeface="Arial" pitchFamily="34" charset="0"/>
                <a:ea typeface="Arial" pitchFamily="34" charset="-122"/>
                <a:cs typeface="Arial" pitchFamily="34" charset="-120"/>
              </a:rPr>
              <a:t>BACKUP</a:t>
            </a:r>
            <a:endParaRPr lang="en-US" sz="1000" dirty="0"/>
          </a:p>
        </p:txBody>
      </p:sp>
      <p:sp>
        <p:nvSpPr>
          <p:cNvPr id="4" name="Text 2"/>
          <p:cNvSpPr/>
          <p:nvPr/>
        </p:nvSpPr>
        <p:spPr>
          <a:xfrm>
            <a:off x="320040" y="256032"/>
            <a:ext cx="9875520" cy="384048"/>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Per-Class F1, All Twelve Runs</a:t>
            </a:r>
            <a:endParaRPr lang="en-US" sz="2100" dirty="0"/>
          </a:p>
        </p:txBody>
      </p:sp>
      <p:pic>
        <p:nvPicPr>
          <p:cNvPr id="5" name="Image 0" descr="/Users/rajakarthikchirumamilla/Desktop/ham10000-cnn-comparison/presentation/logo.png">    </p:cNvPr>
          <p:cNvPicPr>
            <a:picLocks noChangeAspect="1"/>
          </p:cNvPicPr>
          <p:nvPr/>
        </p:nvPicPr>
        <p:blipFill>
          <a:blip r:embed="rId1"/>
          <a:stretch>
            <a:fillRect/>
          </a:stretch>
        </p:blipFill>
        <p:spPr>
          <a:xfrm>
            <a:off x="11109960" y="73152"/>
            <a:ext cx="914400" cy="502920"/>
          </a:xfrm>
          <a:prstGeom prst="rect">
            <a:avLst/>
          </a:prstGeom>
        </p:spPr>
      </p:pic>
      <p:sp>
        <p:nvSpPr>
          <p:cNvPr id="6"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24/27</a:t>
            </a:r>
            <a:endParaRPr lang="en-US" sz="1000" dirty="0"/>
          </a:p>
        </p:txBody>
      </p:sp>
      <p:pic>
        <p:nvPicPr>
          <p:cNvPr id="7" name="Image 1" descr="/Users/rajakarthikchirumamilla/Desktop/ham10000-cnn-comparison/figures/03_per_class_f1_heatmap.pdf">    </p:cNvPr>
          <p:cNvPicPr>
            <a:picLocks noChangeAspect="1"/>
          </p:cNvPicPr>
          <p:nvPr/>
        </p:nvPicPr>
        <p:blipFill>
          <a:blip r:embed="rId2"/>
          <a:srcRect l="0" r="0" t="0" b="0"/>
          <a:stretch/>
        </p:blipFill>
        <p:spPr>
          <a:xfrm>
            <a:off x="1097280" y="868680"/>
            <a:ext cx="9966960" cy="4572000"/>
          </a:xfrm>
          <a:prstGeom prst="rect">
            <a:avLst/>
          </a:prstGeom>
        </p:spPr>
      </p:pic>
      <p:sp>
        <p:nvSpPr>
          <p:cNvPr id="8" name="Shape 4"/>
          <p:cNvSpPr/>
          <p:nvPr/>
        </p:nvSpPr>
        <p:spPr>
          <a:xfrm>
            <a:off x="411480" y="5632704"/>
            <a:ext cx="11338560" cy="676656"/>
          </a:xfrm>
          <a:prstGeom prst="rect">
            <a:avLst/>
          </a:prstGeom>
          <a:solidFill>
            <a:srgbClr val="F5F5F5"/>
          </a:solidFill>
          <a:ln w="12700">
            <a:solidFill>
              <a:srgbClr val="E0E0E0"/>
            </a:solidFill>
            <a:prstDash val="solid"/>
          </a:ln>
        </p:spPr>
      </p:sp>
      <p:sp>
        <p:nvSpPr>
          <p:cNvPr id="9" name="Text 5"/>
          <p:cNvSpPr/>
          <p:nvPr/>
        </p:nvSpPr>
        <p:spPr>
          <a:xfrm>
            <a:off x="594360" y="5632704"/>
            <a:ext cx="10972800" cy="676656"/>
          </a:xfrm>
          <a:prstGeom prst="rect">
            <a:avLst/>
          </a:prstGeom>
          <a:noFill/>
          <a:ln/>
        </p:spPr>
        <p:txBody>
          <a:bodyPr wrap="square" rtlCol="0" anchor="ctr"/>
          <a:lstStyle/>
          <a:p>
            <a:pPr indent="0" marL="0">
              <a:buNone/>
            </a:pPr>
            <a:r>
              <a:rPr lang="en-US" sz="1200" b="1" i="1" dirty="0">
                <a:solidFill>
                  <a:srgbClr val="0D1B2A"/>
                </a:solidFill>
                <a:latin typeface="Arial" pitchFamily="34" charset="0"/>
                <a:ea typeface="Arial" pitchFamily="34" charset="-122"/>
                <a:cs typeface="Arial" pitchFamily="34" charset="-120"/>
              </a:rPr>
              <a:t>What this shows: </a:t>
            </a:r>
            <a:pPr indent="0" marL="0">
              <a:buNone/>
            </a:pPr>
            <a:r>
              <a:rPr lang="en-US" sz="1200" i="1" dirty="0">
                <a:solidFill>
                  <a:srgbClr val="0D1B2A"/>
                </a:solidFill>
                <a:latin typeface="Arial" pitchFamily="34" charset="0"/>
                <a:ea typeface="Arial" pitchFamily="34" charset="-122"/>
                <a:cs typeface="Arial" pitchFamily="34" charset="-120"/>
              </a:rPr>
              <a:t>NV is handled well everywhere. The variation that separates configurations lives in the rare classes, which is why per-class reporting is the primary metric here.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D1B2A"/>
          </a:solidFill>
          <a:ln w="12700">
            <a:solidFill>
              <a:srgbClr val="0D1B2A"/>
            </a:solidFill>
            <a:prstDash val="solid"/>
          </a:ln>
        </p:spPr>
      </p:sp>
      <p:sp>
        <p:nvSpPr>
          <p:cNvPr id="3" name="Text 1"/>
          <p:cNvSpPr/>
          <p:nvPr/>
        </p:nvSpPr>
        <p:spPr>
          <a:xfrm>
            <a:off x="320040" y="54864"/>
            <a:ext cx="9875520" cy="219456"/>
          </a:xfrm>
          <a:prstGeom prst="rect">
            <a:avLst/>
          </a:prstGeom>
          <a:noFill/>
          <a:ln/>
        </p:spPr>
        <p:txBody>
          <a:bodyPr wrap="square" rtlCol="0" anchor="ctr"/>
          <a:lstStyle/>
          <a:p>
            <a:pPr indent="0" marL="0">
              <a:buNone/>
            </a:pPr>
            <a:r>
              <a:rPr lang="en-US" sz="1000" b="1" spc="100" kern="0" dirty="0">
                <a:solidFill>
                  <a:srgbClr val="D54407"/>
                </a:solidFill>
                <a:latin typeface="Arial" pitchFamily="34" charset="0"/>
                <a:ea typeface="Arial" pitchFamily="34" charset="-122"/>
                <a:cs typeface="Arial" pitchFamily="34" charset="-120"/>
              </a:rPr>
              <a:t>BACKUP</a:t>
            </a:r>
            <a:endParaRPr lang="en-US" sz="1000" dirty="0"/>
          </a:p>
        </p:txBody>
      </p:sp>
      <p:sp>
        <p:nvSpPr>
          <p:cNvPr id="4" name="Text 2"/>
          <p:cNvSpPr/>
          <p:nvPr/>
        </p:nvSpPr>
        <p:spPr>
          <a:xfrm>
            <a:off x="320040" y="256032"/>
            <a:ext cx="9875520" cy="384048"/>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Melanoma: Precision Against Recall</a:t>
            </a:r>
            <a:endParaRPr lang="en-US" sz="2100" dirty="0"/>
          </a:p>
        </p:txBody>
      </p:sp>
      <p:pic>
        <p:nvPicPr>
          <p:cNvPr id="5" name="Image 0" descr="/Users/rajakarthikchirumamilla/Desktop/ham10000-cnn-comparison/presentation/logo.png">    </p:cNvPr>
          <p:cNvPicPr>
            <a:picLocks noChangeAspect="1"/>
          </p:cNvPicPr>
          <p:nvPr/>
        </p:nvPicPr>
        <p:blipFill>
          <a:blip r:embed="rId1"/>
          <a:stretch>
            <a:fillRect/>
          </a:stretch>
        </p:blipFill>
        <p:spPr>
          <a:xfrm>
            <a:off x="11109960" y="73152"/>
            <a:ext cx="914400" cy="502920"/>
          </a:xfrm>
          <a:prstGeom prst="rect">
            <a:avLst/>
          </a:prstGeom>
        </p:spPr>
      </p:pic>
      <p:sp>
        <p:nvSpPr>
          <p:cNvPr id="6"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25/27</a:t>
            </a:r>
            <a:endParaRPr lang="en-US" sz="1000" dirty="0"/>
          </a:p>
        </p:txBody>
      </p:sp>
      <p:pic>
        <p:nvPicPr>
          <p:cNvPr id="7" name="Image 1" descr="/Users/rajakarthikchirumamilla/Desktop/ham10000-cnn-comparison/figures/05_melanoma_precision_recall.pdf">    </p:cNvPr>
          <p:cNvPicPr>
            <a:picLocks noChangeAspect="1"/>
          </p:cNvPicPr>
          <p:nvPr/>
        </p:nvPicPr>
        <p:blipFill>
          <a:blip r:embed="rId2"/>
          <a:srcRect l="0" r="0" t="0" b="0"/>
          <a:stretch/>
        </p:blipFill>
        <p:spPr>
          <a:xfrm>
            <a:off x="2194560" y="868680"/>
            <a:ext cx="7772400" cy="4572000"/>
          </a:xfrm>
          <a:prstGeom prst="rect">
            <a:avLst/>
          </a:prstGeom>
        </p:spPr>
      </p:pic>
      <p:sp>
        <p:nvSpPr>
          <p:cNvPr id="8" name="Shape 4"/>
          <p:cNvSpPr/>
          <p:nvPr/>
        </p:nvSpPr>
        <p:spPr>
          <a:xfrm>
            <a:off x="411480" y="5632704"/>
            <a:ext cx="11338560" cy="676656"/>
          </a:xfrm>
          <a:prstGeom prst="rect">
            <a:avLst/>
          </a:prstGeom>
          <a:solidFill>
            <a:srgbClr val="F5F5F5"/>
          </a:solidFill>
          <a:ln w="12700">
            <a:solidFill>
              <a:srgbClr val="E0E0E0"/>
            </a:solidFill>
            <a:prstDash val="solid"/>
          </a:ln>
        </p:spPr>
      </p:sp>
      <p:sp>
        <p:nvSpPr>
          <p:cNvPr id="9" name="Text 5"/>
          <p:cNvSpPr/>
          <p:nvPr/>
        </p:nvSpPr>
        <p:spPr>
          <a:xfrm>
            <a:off x="594360" y="5632704"/>
            <a:ext cx="10972800" cy="676656"/>
          </a:xfrm>
          <a:prstGeom prst="rect">
            <a:avLst/>
          </a:prstGeom>
          <a:noFill/>
          <a:ln/>
        </p:spPr>
        <p:txBody>
          <a:bodyPr wrap="square" rtlCol="0" anchor="ctr"/>
          <a:lstStyle/>
          <a:p>
            <a:pPr indent="0" marL="0">
              <a:buNone/>
            </a:pPr>
            <a:r>
              <a:rPr lang="en-US" sz="1200" b="1" i="1" dirty="0">
                <a:solidFill>
                  <a:srgbClr val="0D1B2A"/>
                </a:solidFill>
                <a:latin typeface="Arial" pitchFamily="34" charset="0"/>
                <a:ea typeface="Arial" pitchFamily="34" charset="-122"/>
                <a:cs typeface="Arial" pitchFamily="34" charset="-120"/>
              </a:rPr>
              <a:t>What this shows: </a:t>
            </a:r>
            <a:pPr indent="0" marL="0">
              <a:buNone/>
            </a:pPr>
            <a:r>
              <a:rPr lang="en-US" sz="1200" i="1" dirty="0">
                <a:solidFill>
                  <a:srgbClr val="0D1B2A"/>
                </a:solidFill>
                <a:latin typeface="Arial" pitchFamily="34" charset="0"/>
                <a:ea typeface="Arial" pitchFamily="34" charset="-122"/>
                <a:cs typeface="Arial" pitchFamily="34" charset="-120"/>
              </a:rPr>
              <a:t>Configurations sit on a trade-off curve rather than ordering from worse to better. E3 finds 63.5% of melanomas and is right 34.0% of the time it says melanoma; E6 is right 66.7% of the time and finds 15.7%. On 115 test melanomas that is 73 found against 18.</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D1B2A"/>
          </a:solidFill>
          <a:ln w="12700">
            <a:solidFill>
              <a:srgbClr val="0D1B2A"/>
            </a:solidFill>
            <a:prstDash val="solid"/>
          </a:ln>
        </p:spPr>
      </p:sp>
      <p:sp>
        <p:nvSpPr>
          <p:cNvPr id="3" name="Text 1"/>
          <p:cNvSpPr/>
          <p:nvPr/>
        </p:nvSpPr>
        <p:spPr>
          <a:xfrm>
            <a:off x="320040" y="54864"/>
            <a:ext cx="9875520" cy="219456"/>
          </a:xfrm>
          <a:prstGeom prst="rect">
            <a:avLst/>
          </a:prstGeom>
          <a:noFill/>
          <a:ln/>
        </p:spPr>
        <p:txBody>
          <a:bodyPr wrap="square" rtlCol="0" anchor="ctr"/>
          <a:lstStyle/>
          <a:p>
            <a:pPr indent="0" marL="0">
              <a:buNone/>
            </a:pPr>
            <a:r>
              <a:rPr lang="en-US" sz="1000" b="1" spc="100" kern="0" dirty="0">
                <a:solidFill>
                  <a:srgbClr val="D54407"/>
                </a:solidFill>
                <a:latin typeface="Arial" pitchFamily="34" charset="0"/>
                <a:ea typeface="Arial" pitchFamily="34" charset="-122"/>
                <a:cs typeface="Arial" pitchFamily="34" charset="-120"/>
              </a:rPr>
              <a:t>BACKUP</a:t>
            </a:r>
            <a:endParaRPr lang="en-US" sz="1000" dirty="0"/>
          </a:p>
        </p:txBody>
      </p:sp>
      <p:sp>
        <p:nvSpPr>
          <p:cNvPr id="4" name="Text 2"/>
          <p:cNvSpPr/>
          <p:nvPr/>
        </p:nvSpPr>
        <p:spPr>
          <a:xfrm>
            <a:off x="320040" y="256032"/>
            <a:ext cx="9875520" cy="384048"/>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Exploratory Family — All 12 B3 Comparisons</a:t>
            </a:r>
            <a:endParaRPr lang="en-US" sz="2100" dirty="0"/>
          </a:p>
        </p:txBody>
      </p:sp>
      <p:pic>
        <p:nvPicPr>
          <p:cNvPr id="5" name="Image 0" descr="/Users/rajakarthikchirumamilla/Desktop/ham10000-cnn-comparison/presentation/logo.png">    </p:cNvPr>
          <p:cNvPicPr>
            <a:picLocks noChangeAspect="1"/>
          </p:cNvPicPr>
          <p:nvPr/>
        </p:nvPicPr>
        <p:blipFill>
          <a:blip r:embed="rId1"/>
          <a:stretch>
            <a:fillRect/>
          </a:stretch>
        </p:blipFill>
        <p:spPr>
          <a:xfrm>
            <a:off x="11109960" y="73152"/>
            <a:ext cx="914400" cy="502920"/>
          </a:xfrm>
          <a:prstGeom prst="rect">
            <a:avLst/>
          </a:prstGeom>
        </p:spPr>
      </p:pic>
      <p:sp>
        <p:nvSpPr>
          <p:cNvPr id="6"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26/27</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2011680" y="914400"/>
          <a:ext cx="8138160" cy="914400"/>
        </p:xfrm>
        <a:graphic>
          <a:graphicData uri="http://schemas.openxmlformats.org/drawingml/2006/table">
            <a:tbl>
              <a:tblPr/>
              <a:tblGrid>
                <a:gridCol w="2377440"/>
                <a:gridCol w="2103120"/>
                <a:gridCol w="1645920"/>
                <a:gridCol w="2011680"/>
              </a:tblGrid>
              <a:tr h="274320">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Comparison</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p (Holm)</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Sig.</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Favours</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B2A"/>
                    </a:solidFill>
                  </a:tcPr>
                </a:tc>
              </a:tr>
              <a:tr h="274320">
                <a:tc>
                  <a:txBody>
                    <a:bodyPr/>
                    <a:lstStyle/>
                    <a:p>
                      <a:pPr algn="l" indent="0" marL="0">
                        <a:buNone/>
                      </a:pPr>
                      <a:r>
                        <a:rPr lang="en-US" sz="1050" b="1" dirty="0">
                          <a:solidFill>
                            <a:srgbClr val="263238"/>
                          </a:solidFill>
                          <a:latin typeface="Arial" pitchFamily="34" charset="0"/>
                          <a:ea typeface="Arial" pitchFamily="34" charset="-122"/>
                          <a:cs typeface="Arial" pitchFamily="34" charset="-120"/>
                        </a:rPr>
                        <a:t>E7 vs E1</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1.0000</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E7</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74320">
                <a:tc>
                  <a:txBody>
                    <a:bodyPr/>
                    <a:lstStyle/>
                    <a:p>
                      <a:pPr algn="l" indent="0" marL="0">
                        <a:buNone/>
                      </a:pPr>
                      <a:r>
                        <a:rPr lang="en-US" sz="1050" b="1" dirty="0">
                          <a:solidFill>
                            <a:srgbClr val="263238"/>
                          </a:solidFill>
                          <a:latin typeface="Arial" pitchFamily="34" charset="0"/>
                          <a:ea typeface="Arial" pitchFamily="34" charset="-122"/>
                          <a:cs typeface="Arial" pitchFamily="34" charset="-120"/>
                        </a:rPr>
                        <a:t>E7 vs E2</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1.0000</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E7</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274320">
                <a:tc>
                  <a:txBody>
                    <a:bodyPr/>
                    <a:lstStyle/>
                    <a:p>
                      <a:pPr algn="l" indent="0" marL="0">
                        <a:buNone/>
                      </a:pPr>
                      <a:r>
                        <a:rPr lang="en-US" sz="1050" b="1" dirty="0">
                          <a:solidFill>
                            <a:srgbClr val="263238"/>
                          </a:solidFill>
                          <a:latin typeface="Arial" pitchFamily="34" charset="0"/>
                          <a:ea typeface="Arial" pitchFamily="34" charset="-122"/>
                          <a:cs typeface="Arial" pitchFamily="34" charset="-120"/>
                        </a:rPr>
                        <a:t>E8 vs E3</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0.2217</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E8</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74320">
                <a:tc>
                  <a:txBody>
                    <a:bodyPr/>
                    <a:lstStyle/>
                    <a:p>
                      <a:pPr algn="l" indent="0" marL="0">
                        <a:buNone/>
                      </a:pPr>
                      <a:r>
                        <a:rPr lang="en-US" sz="1050" b="1" dirty="0">
                          <a:solidFill>
                            <a:srgbClr val="263238"/>
                          </a:solidFill>
                          <a:latin typeface="Arial" pitchFamily="34" charset="0"/>
                          <a:ea typeface="Arial" pitchFamily="34" charset="-122"/>
                          <a:cs typeface="Arial" pitchFamily="34" charset="-120"/>
                        </a:rPr>
                        <a:t>E8 vs E4</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0.0651</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E8</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274320">
                <a:tc>
                  <a:txBody>
                    <a:bodyPr/>
                    <a:lstStyle/>
                    <a:p>
                      <a:pPr algn="l" indent="0" marL="0">
                        <a:buNone/>
                      </a:pPr>
                      <a:r>
                        <a:rPr lang="en-US" sz="1050" b="1" dirty="0">
                          <a:solidFill>
                            <a:srgbClr val="263238"/>
                          </a:solidFill>
                          <a:latin typeface="Arial" pitchFamily="34" charset="0"/>
                          <a:ea typeface="Arial" pitchFamily="34" charset="-122"/>
                          <a:cs typeface="Arial" pitchFamily="34" charset="-120"/>
                        </a:rPr>
                        <a:t>E9 vs E5</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1.0000</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E9</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74320">
                <a:tc>
                  <a:txBody>
                    <a:bodyPr/>
                    <a:lstStyle/>
                    <a:p>
                      <a:pPr algn="l" indent="0" marL="0">
                        <a:buNone/>
                      </a:pPr>
                      <a:r>
                        <a:rPr lang="en-US" sz="1050" b="1" dirty="0">
                          <a:solidFill>
                            <a:srgbClr val="263238"/>
                          </a:solidFill>
                          <a:latin typeface="Arial" pitchFamily="34" charset="0"/>
                          <a:ea typeface="Arial" pitchFamily="34" charset="-122"/>
                          <a:cs typeface="Arial" pitchFamily="34" charset="-120"/>
                        </a:rPr>
                        <a:t>E9 vs E6</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2.00e-7</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E9</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274320">
                <a:tc>
                  <a:txBody>
                    <a:bodyPr/>
                    <a:lstStyle/>
                    <a:p>
                      <a:pPr algn="l" indent="0" marL="0">
                        <a:buNone/>
                      </a:pPr>
                      <a:r>
                        <a:rPr lang="en-US" sz="1050" b="1" dirty="0">
                          <a:solidFill>
                            <a:srgbClr val="263238"/>
                          </a:solidFill>
                          <a:latin typeface="Arial" pitchFamily="34" charset="0"/>
                          <a:ea typeface="Arial" pitchFamily="34" charset="-122"/>
                          <a:cs typeface="Arial" pitchFamily="34" charset="-120"/>
                        </a:rPr>
                        <a:t>E7 vs E8</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1.88e-5</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E7</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74320">
                <a:tc>
                  <a:txBody>
                    <a:bodyPr/>
                    <a:lstStyle/>
                    <a:p>
                      <a:pPr algn="l" indent="0" marL="0">
                        <a:buNone/>
                      </a:pPr>
                      <a:r>
                        <a:rPr lang="en-US" sz="1050" b="1" dirty="0">
                          <a:solidFill>
                            <a:srgbClr val="263238"/>
                          </a:solidFill>
                          <a:latin typeface="Arial" pitchFamily="34" charset="0"/>
                          <a:ea typeface="Arial" pitchFamily="34" charset="-122"/>
                          <a:cs typeface="Arial" pitchFamily="34" charset="-120"/>
                        </a:rPr>
                        <a:t>E7 vs E9</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1.0000</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E9</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274320">
                <a:tc>
                  <a:txBody>
                    <a:bodyPr/>
                    <a:lstStyle/>
                    <a:p>
                      <a:pPr algn="l" indent="0" marL="0">
                        <a:buNone/>
                      </a:pPr>
                      <a:r>
                        <a:rPr lang="en-US" sz="1050" b="1" dirty="0">
                          <a:solidFill>
                            <a:srgbClr val="263238"/>
                          </a:solidFill>
                          <a:latin typeface="Arial" pitchFamily="34" charset="0"/>
                          <a:ea typeface="Arial" pitchFamily="34" charset="-122"/>
                          <a:cs typeface="Arial" pitchFamily="34" charset="-120"/>
                        </a:rPr>
                        <a:t>E8 vs E9</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9.16e-6</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E9</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74320">
                <a:tc>
                  <a:txBody>
                    <a:bodyPr/>
                    <a:lstStyle/>
                    <a:p>
                      <a:pPr algn="l" indent="0" marL="0">
                        <a:buNone/>
                      </a:pPr>
                      <a:r>
                        <a:rPr lang="en-US" sz="1050" b="1" dirty="0">
                          <a:solidFill>
                            <a:srgbClr val="263238"/>
                          </a:solidFill>
                          <a:latin typeface="Arial" pitchFamily="34" charset="0"/>
                          <a:ea typeface="Arial" pitchFamily="34" charset="-122"/>
                          <a:cs typeface="Arial" pitchFamily="34" charset="-120"/>
                        </a:rPr>
                        <a:t>E7 vs E10</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0.0848</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E10</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274320">
                <a:tc>
                  <a:txBody>
                    <a:bodyPr/>
                    <a:lstStyle/>
                    <a:p>
                      <a:pPr algn="l" indent="0" marL="0">
                        <a:buNone/>
                      </a:pPr>
                      <a:r>
                        <a:rPr lang="en-US" sz="1050" b="1" dirty="0">
                          <a:solidFill>
                            <a:srgbClr val="263238"/>
                          </a:solidFill>
                          <a:latin typeface="Arial" pitchFamily="34" charset="0"/>
                          <a:ea typeface="Arial" pitchFamily="34" charset="-122"/>
                          <a:cs typeface="Arial" pitchFamily="34" charset="-120"/>
                        </a:rPr>
                        <a:t>E8 vs E11</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1.92e-5</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E11</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74320">
                <a:tc>
                  <a:txBody>
                    <a:bodyPr/>
                    <a:lstStyle/>
                    <a:p>
                      <a:pPr algn="l" indent="0" marL="0">
                        <a:buNone/>
                      </a:pPr>
                      <a:r>
                        <a:rPr lang="en-US" sz="1050" b="1" dirty="0">
                          <a:solidFill>
                            <a:srgbClr val="263238"/>
                          </a:solidFill>
                          <a:latin typeface="Arial" pitchFamily="34" charset="0"/>
                          <a:ea typeface="Arial" pitchFamily="34" charset="-122"/>
                          <a:cs typeface="Arial" pitchFamily="34" charset="-120"/>
                        </a:rPr>
                        <a:t>E9 vs E12</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0.1903</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263238"/>
                          </a:solidFill>
                          <a:latin typeface="Arial" pitchFamily="34" charset="0"/>
                          <a:ea typeface="Arial" pitchFamily="34" charset="-122"/>
                          <a:cs typeface="Arial" pitchFamily="34" charset="-120"/>
                        </a:rPr>
                        <a:t>E12</a:t>
                      </a:r>
                      <a:endParaRPr lang="en-US" sz="105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bl>
          </a:graphicData>
        </a:graphic>
      </p:graphicFrame>
      <p:sp>
        <p:nvSpPr>
          <p:cNvPr id="8" name="Shape 4"/>
          <p:cNvSpPr/>
          <p:nvPr/>
        </p:nvSpPr>
        <p:spPr>
          <a:xfrm>
            <a:off x="411480" y="5632704"/>
            <a:ext cx="11338560" cy="676656"/>
          </a:xfrm>
          <a:prstGeom prst="rect">
            <a:avLst/>
          </a:prstGeom>
          <a:solidFill>
            <a:srgbClr val="F5F5F5"/>
          </a:solidFill>
          <a:ln w="12700">
            <a:solidFill>
              <a:srgbClr val="E0E0E0"/>
            </a:solidFill>
            <a:prstDash val="solid"/>
          </a:ln>
        </p:spPr>
      </p:sp>
      <p:sp>
        <p:nvSpPr>
          <p:cNvPr id="9" name="Text 5"/>
          <p:cNvSpPr/>
          <p:nvPr/>
        </p:nvSpPr>
        <p:spPr>
          <a:xfrm>
            <a:off x="594360" y="5632704"/>
            <a:ext cx="10972800" cy="676656"/>
          </a:xfrm>
          <a:prstGeom prst="rect">
            <a:avLst/>
          </a:prstGeom>
          <a:noFill/>
          <a:ln/>
        </p:spPr>
        <p:txBody>
          <a:bodyPr wrap="square" rtlCol="0" anchor="ctr"/>
          <a:lstStyle/>
          <a:p>
            <a:pPr indent="0" marL="0">
              <a:buNone/>
            </a:pPr>
            <a:r>
              <a:rPr lang="en-US" sz="1200" b="1" i="1" dirty="0">
                <a:solidFill>
                  <a:srgbClr val="0D1B2A"/>
                </a:solidFill>
                <a:latin typeface="Arial" pitchFamily="34" charset="0"/>
                <a:ea typeface="Arial" pitchFamily="34" charset="-122"/>
                <a:cs typeface="Arial" pitchFamily="34" charset="-120"/>
              </a:rPr>
              <a:t>Why a separate family: </a:t>
            </a:r>
            <a:pPr indent="0" marL="0">
              <a:buNone/>
            </a:pPr>
            <a:r>
              <a:rPr lang="en-US" sz="1200" i="1" dirty="0">
                <a:solidFill>
                  <a:srgbClr val="0D1B2A"/>
                </a:solidFill>
                <a:latin typeface="Arial" pitchFamily="34" charset="0"/>
                <a:ea typeface="Arial" pitchFamily="34" charset="-122"/>
                <a:cs typeface="Arial" pitchFamily="34" charset="-120"/>
              </a:rPr>
              <a:t>Corrected separately from the confirmatory family. Pooling all 21 would apply a harsher correction to the 9 pre-registered comparisons, letting a post-hoc addition change whether earlier findings hold.</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D1B2A"/>
          </a:solidFill>
          <a:ln w="12700">
            <a:solidFill>
              <a:srgbClr val="0D1B2A"/>
            </a:solidFill>
            <a:prstDash val="solid"/>
          </a:ln>
        </p:spPr>
      </p:sp>
      <p:sp>
        <p:nvSpPr>
          <p:cNvPr id="3" name="Text 1"/>
          <p:cNvSpPr/>
          <p:nvPr/>
        </p:nvSpPr>
        <p:spPr>
          <a:xfrm>
            <a:off x="320040" y="54864"/>
            <a:ext cx="9875520" cy="219456"/>
          </a:xfrm>
          <a:prstGeom prst="rect">
            <a:avLst/>
          </a:prstGeom>
          <a:noFill/>
          <a:ln/>
        </p:spPr>
        <p:txBody>
          <a:bodyPr wrap="square" rtlCol="0" anchor="ctr"/>
          <a:lstStyle/>
          <a:p>
            <a:pPr indent="0" marL="0">
              <a:buNone/>
            </a:pPr>
            <a:r>
              <a:rPr lang="en-US" sz="1000" b="1" spc="100" kern="0" dirty="0">
                <a:solidFill>
                  <a:srgbClr val="D54407"/>
                </a:solidFill>
                <a:latin typeface="Arial" pitchFamily="34" charset="0"/>
                <a:ea typeface="Arial" pitchFamily="34" charset="-122"/>
                <a:cs typeface="Arial" pitchFamily="34" charset="-120"/>
              </a:rPr>
              <a:t>BACKUP</a:t>
            </a:r>
            <a:endParaRPr lang="en-US" sz="1000" dirty="0"/>
          </a:p>
        </p:txBody>
      </p:sp>
      <p:sp>
        <p:nvSpPr>
          <p:cNvPr id="4" name="Text 2"/>
          <p:cNvSpPr/>
          <p:nvPr/>
        </p:nvSpPr>
        <p:spPr>
          <a:xfrm>
            <a:off x="320040" y="256032"/>
            <a:ext cx="9875520" cy="384048"/>
          </a:xfrm>
          <a:prstGeom prst="rect">
            <a:avLst/>
          </a:prstGeom>
          <a:noFill/>
          <a:ln/>
        </p:spPr>
        <p:txBody>
          <a:bodyPr wrap="square" rtlCol="0" anchor="ctr"/>
          <a:lstStyle/>
          <a:p>
            <a:pPr indent="0" marL="0">
              <a:buNone/>
            </a:pPr>
            <a:r>
              <a:rPr lang="en-US" sz="2100" b="1" dirty="0">
                <a:solidFill>
                  <a:srgbClr val="FFFFFF"/>
                </a:solidFill>
                <a:latin typeface="Arial" pitchFamily="34" charset="0"/>
                <a:ea typeface="Arial" pitchFamily="34" charset="-122"/>
                <a:cs typeface="Arial" pitchFamily="34" charset="-120"/>
              </a:rPr>
              <a:t>Training Curves by Architecture</a:t>
            </a:r>
            <a:endParaRPr lang="en-US" sz="2100" dirty="0"/>
          </a:p>
        </p:txBody>
      </p:sp>
      <p:pic>
        <p:nvPicPr>
          <p:cNvPr id="5" name="Image 0" descr="/Users/rajakarthikchirumamilla/Desktop/ham10000-cnn-comparison/presentation/logo.png">    </p:cNvPr>
          <p:cNvPicPr>
            <a:picLocks noChangeAspect="1"/>
          </p:cNvPicPr>
          <p:nvPr/>
        </p:nvPicPr>
        <p:blipFill>
          <a:blip r:embed="rId1"/>
          <a:stretch>
            <a:fillRect/>
          </a:stretch>
        </p:blipFill>
        <p:spPr>
          <a:xfrm>
            <a:off x="11109960" y="73152"/>
            <a:ext cx="914400" cy="502920"/>
          </a:xfrm>
          <a:prstGeom prst="rect">
            <a:avLst/>
          </a:prstGeom>
        </p:spPr>
      </p:pic>
      <p:sp>
        <p:nvSpPr>
          <p:cNvPr id="6" name="Text 3"/>
          <p:cNvSpPr/>
          <p:nvPr/>
        </p:nvSpPr>
        <p:spPr>
          <a:xfrm>
            <a:off x="11064240" y="6446520"/>
            <a:ext cx="914400" cy="228600"/>
          </a:xfrm>
          <a:prstGeom prst="rect">
            <a:avLst/>
          </a:prstGeom>
          <a:noFill/>
          <a:ln/>
        </p:spPr>
        <p:txBody>
          <a:bodyPr wrap="square" rtlCol="0" anchor="ctr"/>
          <a:lstStyle/>
          <a:p>
            <a:pPr algn="r" indent="0" marL="0">
              <a:buNone/>
            </a:pPr>
            <a:r>
              <a:rPr lang="en-US" sz="1000" dirty="0">
                <a:solidFill>
                  <a:srgbClr val="0D1B2A"/>
                </a:solidFill>
                <a:latin typeface="Arial" pitchFamily="34" charset="0"/>
                <a:ea typeface="Arial" pitchFamily="34" charset="-122"/>
                <a:cs typeface="Arial" pitchFamily="34" charset="-120"/>
              </a:rPr>
              <a:t>27/27</a:t>
            </a:r>
            <a:endParaRPr lang="en-US" sz="1000" dirty="0"/>
          </a:p>
        </p:txBody>
      </p:sp>
      <p:pic>
        <p:nvPicPr>
          <p:cNvPr id="7" name="Image 1" descr="/Users/rajakarthikchirumamilla/Desktop/ham10000-cnn-comparison/figures/02_training_curves.pdf">    </p:cNvPr>
          <p:cNvPicPr>
            <a:picLocks noChangeAspect="1"/>
          </p:cNvPicPr>
          <p:nvPr/>
        </p:nvPicPr>
        <p:blipFill>
          <a:blip r:embed="rId2"/>
          <a:srcRect l="0" r="0" t="0" b="0"/>
          <a:stretch/>
        </p:blipFill>
        <p:spPr>
          <a:xfrm>
            <a:off x="457200" y="868680"/>
            <a:ext cx="11247120" cy="4572000"/>
          </a:xfrm>
          <a:prstGeom prst="rect">
            <a:avLst/>
          </a:prstGeom>
        </p:spPr>
      </p:pic>
      <p:sp>
        <p:nvSpPr>
          <p:cNvPr id="8" name="Shape 4"/>
          <p:cNvSpPr/>
          <p:nvPr/>
        </p:nvSpPr>
        <p:spPr>
          <a:xfrm>
            <a:off x="411480" y="5632704"/>
            <a:ext cx="11338560" cy="676656"/>
          </a:xfrm>
          <a:prstGeom prst="rect">
            <a:avLst/>
          </a:prstGeom>
          <a:solidFill>
            <a:srgbClr val="F5F5F5"/>
          </a:solidFill>
          <a:ln w="12700">
            <a:solidFill>
              <a:srgbClr val="E0E0E0"/>
            </a:solidFill>
            <a:prstDash val="solid"/>
          </a:ln>
        </p:spPr>
      </p:sp>
      <p:sp>
        <p:nvSpPr>
          <p:cNvPr id="9" name="Text 5"/>
          <p:cNvSpPr/>
          <p:nvPr/>
        </p:nvSpPr>
        <p:spPr>
          <a:xfrm>
            <a:off x="594360" y="5632704"/>
            <a:ext cx="10972800" cy="676656"/>
          </a:xfrm>
          <a:prstGeom prst="rect">
            <a:avLst/>
          </a:prstGeom>
          <a:noFill/>
          <a:ln/>
        </p:spPr>
        <p:txBody>
          <a:bodyPr wrap="square" rtlCol="0" anchor="ctr"/>
          <a:lstStyle/>
          <a:p>
            <a:pPr indent="0" marL="0">
              <a:buNone/>
            </a:pPr>
            <a:r>
              <a:rPr lang="en-US" sz="1200" b="1" i="1" dirty="0">
                <a:solidFill>
                  <a:srgbClr val="0D1B2A"/>
                </a:solidFill>
                <a:latin typeface="Arial" pitchFamily="34" charset="0"/>
                <a:ea typeface="Arial" pitchFamily="34" charset="-122"/>
                <a:cs typeface="Arial" pitchFamily="34" charset="-120"/>
              </a:rPr>
              <a:t>What this shows: </a:t>
            </a:r>
            <a:pPr indent="0" marL="0">
              <a:buNone/>
            </a:pPr>
            <a:r>
              <a:rPr lang="en-US" sz="1200" i="1" dirty="0">
                <a:solidFill>
                  <a:srgbClr val="0D1B2A"/>
                </a:solidFill>
                <a:latin typeface="Arial" pitchFamily="34" charset="0"/>
                <a:ea typeface="Arial" pitchFamily="34" charset="-122"/>
                <a:cs typeface="Arial" pitchFamily="34" charset="-120"/>
              </a:rPr>
              <a:t>ResNet-50's epoch-to-epoch validation loss is 1.70x more volatile than MobileNetV2's. E4 produced a single-epoch increase of 1.207 and moved the wrong way on 23 of 49 transitions. This is the mechanism behind both the RQ2 result and the checkpoint-selection cost.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Thesis Defence</dc:title>
  <dc:subject>PptxGenJS Presentation</dc:subject>
  <dc:creator>Theerthankar Reddy Bandarla</dc:creator>
  <cp:lastModifiedBy>Theerthankar Reddy Bandarla</cp:lastModifiedBy>
  <cp:revision>1</cp:revision>
  <dcterms:created xsi:type="dcterms:W3CDTF">2026-08-17T11:36:27Z</dcterms:created>
  <dcterms:modified xsi:type="dcterms:W3CDTF">2026-08-17T11:36:27Z</dcterms:modified>
</cp:coreProperties>
</file>